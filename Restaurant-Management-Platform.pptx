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Brygada 1918"/>
      <p:regular r:id="rId17"/>
    </p:embeddedFont>
    <p:embeddedFont>
      <p:font typeface="Brygada 1918"/>
      <p:regular r:id="rId18"/>
    </p:embeddedFont>
    <p:embeddedFont>
      <p:font typeface="Brygada 1918"/>
      <p:regular r:id="rId19"/>
    </p:embeddedFont>
    <p:embeddedFont>
      <p:font typeface="Brygada 1918"/>
      <p:regular r:id="rId20"/>
    </p:embeddedFont>
    <p:embeddedFont>
      <p:font typeface="Montserrat Medium"/>
      <p:regular r:id="rId21"/>
    </p:embeddedFont>
    <p:embeddedFont>
      <p:font typeface="Montserrat Medium"/>
      <p:regular r:id="rId22"/>
    </p:embeddedFont>
    <p:embeddedFont>
      <p:font typeface="Montserrat Medium"/>
      <p:regular r:id="rId23"/>
    </p:embeddedFont>
    <p:embeddedFont>
      <p:font typeface="Montserrat Medium"/>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slideLayout" Target="../slideLayouts/slideLayout6.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35660" y="2277308"/>
            <a:ext cx="7645479" cy="1427083"/>
          </a:xfrm>
          <a:prstGeom prst="rect">
            <a:avLst/>
          </a:prstGeom>
          <a:noFill/>
          <a:ln/>
        </p:spPr>
        <p:txBody>
          <a:bodyPr wrap="square" lIns="0" tIns="0" rIns="0" bIns="0" rtlCol="0" anchor="t"/>
          <a:lstStyle/>
          <a:p>
            <a:pPr algn="l" indent="0" marL="0">
              <a:lnSpc>
                <a:spcPts val="5600"/>
              </a:lnSpc>
              <a:buNone/>
            </a:pPr>
            <a:r>
              <a:rPr lang="en-US" sz="4450" b="1" dirty="0">
                <a:solidFill>
                  <a:srgbClr val="FFB393"/>
                </a:solidFill>
                <a:latin typeface="Brygada 1918 Bold" pitchFamily="34" charset="0"/>
                <a:ea typeface="Brygada 1918 Bold" pitchFamily="34" charset="-122"/>
                <a:cs typeface="Brygada 1918 Bold" pitchFamily="34" charset="-120"/>
              </a:rPr>
              <a:t>Restaurant Management Platform</a:t>
            </a:r>
            <a:endParaRPr lang="en-US" sz="4450" dirty="0"/>
          </a:p>
        </p:txBody>
      </p:sp>
      <p:sp>
        <p:nvSpPr>
          <p:cNvPr id="4" name="Text 1"/>
          <p:cNvSpPr/>
          <p:nvPr/>
        </p:nvSpPr>
        <p:spPr>
          <a:xfrm>
            <a:off x="6235660" y="4025503"/>
            <a:ext cx="7645479" cy="684848"/>
          </a:xfrm>
          <a:prstGeom prst="rect">
            <a:avLst/>
          </a:prstGeom>
          <a:noFill/>
          <a:ln/>
        </p:spPr>
        <p:txBody>
          <a:bodyPr wrap="squar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A comprehensive digital solution transforming restaurant operations from order to delivery</a:t>
            </a:r>
            <a:endParaRPr lang="en-US" sz="1650" dirty="0"/>
          </a:p>
        </p:txBody>
      </p:sp>
      <p:sp>
        <p:nvSpPr>
          <p:cNvPr id="5" name="Shape 2"/>
          <p:cNvSpPr/>
          <p:nvPr/>
        </p:nvSpPr>
        <p:spPr>
          <a:xfrm>
            <a:off x="6235660" y="4951214"/>
            <a:ext cx="2841427" cy="417671"/>
          </a:xfrm>
          <a:prstGeom prst="roundRect">
            <a:avLst>
              <a:gd name="adj" fmla="val 6151"/>
            </a:avLst>
          </a:prstGeom>
          <a:noFill/>
          <a:ln w="7620">
            <a:solidFill>
              <a:srgbClr val="FFB393"/>
            </a:solidFill>
            <a:prstDash val="solid"/>
          </a:ln>
        </p:spPr>
      </p:sp>
      <p:sp>
        <p:nvSpPr>
          <p:cNvPr id="6" name="Text 3"/>
          <p:cNvSpPr/>
          <p:nvPr/>
        </p:nvSpPr>
        <p:spPr>
          <a:xfrm>
            <a:off x="6371630" y="5023009"/>
            <a:ext cx="2569488" cy="274082"/>
          </a:xfrm>
          <a:prstGeom prst="rect">
            <a:avLst/>
          </a:prstGeom>
          <a:noFill/>
          <a:ln/>
        </p:spPr>
        <p:txBody>
          <a:bodyPr wrap="none" lIns="0" tIns="0" rIns="0" bIns="0" rtlCol="0" anchor="t"/>
          <a:lstStyle/>
          <a:p>
            <a:pPr algn="l" indent="0" marL="0">
              <a:lnSpc>
                <a:spcPts val="2150"/>
              </a:lnSpc>
              <a:buNone/>
            </a:pPr>
            <a:r>
              <a:rPr lang="en-US" sz="1300" dirty="0">
                <a:solidFill>
                  <a:srgbClr val="FFB393"/>
                </a:solidFill>
                <a:latin typeface="Montserrat Medium" pitchFamily="34" charset="0"/>
                <a:ea typeface="Montserrat Medium" pitchFamily="34" charset="-122"/>
                <a:cs typeface="Montserrat Medium" pitchFamily="34" charset="-120"/>
              </a:rPr>
              <a:t>ITPRENEUR INSTITUTE, PUNE</a:t>
            </a:r>
            <a:endParaRPr lang="en-US" sz="1300" dirty="0"/>
          </a:p>
        </p:txBody>
      </p:sp>
      <p:sp>
        <p:nvSpPr>
          <p:cNvPr id="7" name="Shape 4"/>
          <p:cNvSpPr/>
          <p:nvPr/>
        </p:nvSpPr>
        <p:spPr>
          <a:xfrm>
            <a:off x="9184124" y="4951214"/>
            <a:ext cx="1969532" cy="417671"/>
          </a:xfrm>
          <a:prstGeom prst="roundRect">
            <a:avLst>
              <a:gd name="adj" fmla="val 6151"/>
            </a:avLst>
          </a:prstGeom>
          <a:noFill/>
          <a:ln w="7620">
            <a:solidFill>
              <a:srgbClr val="FFB393"/>
            </a:solidFill>
            <a:prstDash val="solid"/>
          </a:ln>
        </p:spPr>
      </p:sp>
      <p:sp>
        <p:nvSpPr>
          <p:cNvPr id="8" name="Text 5"/>
          <p:cNvSpPr/>
          <p:nvPr/>
        </p:nvSpPr>
        <p:spPr>
          <a:xfrm>
            <a:off x="9320093" y="5023009"/>
            <a:ext cx="1697593" cy="274082"/>
          </a:xfrm>
          <a:prstGeom prst="rect">
            <a:avLst/>
          </a:prstGeom>
          <a:noFill/>
          <a:ln/>
        </p:spPr>
        <p:txBody>
          <a:bodyPr wrap="none" lIns="0" tIns="0" rIns="0" bIns="0" rtlCol="0" anchor="t"/>
          <a:lstStyle/>
          <a:p>
            <a:pPr algn="l" indent="0" marL="0">
              <a:lnSpc>
                <a:spcPts val="2150"/>
              </a:lnSpc>
              <a:buNone/>
            </a:pPr>
            <a:r>
              <a:rPr lang="en-US" sz="1300" dirty="0">
                <a:solidFill>
                  <a:srgbClr val="FFB393"/>
                </a:solidFill>
                <a:latin typeface="Montserrat Medium" pitchFamily="34" charset="0"/>
                <a:ea typeface="Montserrat Medium" pitchFamily="34" charset="-122"/>
                <a:cs typeface="Montserrat Medium" pitchFamily="34" charset="-120"/>
              </a:rPr>
              <a:t>FEBRUARY 14, 2026</a:t>
            </a:r>
            <a:endParaRPr lang="en-US" sz="1300" dirty="0"/>
          </a:p>
        </p:txBody>
      </p:sp>
      <p:sp>
        <p:nvSpPr>
          <p:cNvPr id="9" name="Text 6"/>
          <p:cNvSpPr/>
          <p:nvPr/>
        </p:nvSpPr>
        <p:spPr>
          <a:xfrm>
            <a:off x="6235660" y="5609749"/>
            <a:ext cx="7645479" cy="342424"/>
          </a:xfrm>
          <a:prstGeom prst="rect">
            <a:avLst/>
          </a:prstGeom>
          <a:noFill/>
          <a:ln/>
        </p:spPr>
        <p:txBody>
          <a:bodyPr wrap="none" lIns="0" tIns="0" rIns="0" bIns="0" rtlCol="0" anchor="t"/>
          <a:lstStyle/>
          <a:p>
            <a:pPr algn="l" indent="0" marL="0">
              <a:lnSpc>
                <a:spcPts val="2650"/>
              </a:lnSpc>
              <a:buNone/>
            </a:pPr>
            <a:r>
              <a:rPr lang="en-US" sz="1650" b="1" dirty="0">
                <a:solidFill>
                  <a:srgbClr val="F4CAB8"/>
                </a:solidFill>
                <a:latin typeface="Montserrat Medium" pitchFamily="34" charset="0"/>
                <a:ea typeface="Montserrat Medium" pitchFamily="34" charset="-122"/>
                <a:cs typeface="Montserrat Medium" pitchFamily="34" charset="-120"/>
              </a:rPr>
              <a:t>Presented by:</a:t>
            </a:r>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 Kadambari Gaikwad, Aarya Athane, Shreya Shelar</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48665" y="589836"/>
            <a:ext cx="2852023" cy="356354"/>
          </a:xfrm>
          <a:prstGeom prst="rect">
            <a:avLst/>
          </a:prstGeom>
          <a:noFill/>
          <a:ln/>
        </p:spPr>
        <p:txBody>
          <a:bodyPr wrap="none" lIns="0" tIns="0" rIns="0" bIns="0" rtlCol="0" anchor="t"/>
          <a:lstStyle/>
          <a:p>
            <a:pPr algn="l" indent="0" marL="0">
              <a:lnSpc>
                <a:spcPts val="2800"/>
              </a:lnSpc>
              <a:buNone/>
            </a:pPr>
            <a:r>
              <a:rPr lang="en-US" sz="2200" b="1" dirty="0">
                <a:solidFill>
                  <a:srgbClr val="FFB393"/>
                </a:solidFill>
                <a:latin typeface="Brygada 1918 Bold" pitchFamily="34" charset="0"/>
                <a:ea typeface="Brygada 1918 Bold" pitchFamily="34" charset="-122"/>
                <a:cs typeface="Brygada 1918 Bold" pitchFamily="34" charset="-120"/>
              </a:rPr>
              <a:t>Today's Agenda</a:t>
            </a:r>
            <a:endParaRPr lang="en-US" sz="2200" dirty="0"/>
          </a:p>
        </p:txBody>
      </p:sp>
      <p:sp>
        <p:nvSpPr>
          <p:cNvPr id="3" name="Text 1"/>
          <p:cNvSpPr/>
          <p:nvPr/>
        </p:nvSpPr>
        <p:spPr>
          <a:xfrm>
            <a:off x="748665" y="1031558"/>
            <a:ext cx="5704046" cy="712946"/>
          </a:xfrm>
          <a:prstGeom prst="rect">
            <a:avLst/>
          </a:prstGeom>
          <a:noFill/>
          <a:ln/>
        </p:spPr>
        <p:txBody>
          <a:bodyPr wrap="none" lIns="0" tIns="0" rIns="0" bIns="0" rtlCol="0" anchor="t"/>
          <a:lstStyle/>
          <a:p>
            <a:pPr algn="l" indent="0" marL="0">
              <a:lnSpc>
                <a:spcPts val="5600"/>
              </a:lnSpc>
              <a:buNone/>
            </a:pPr>
            <a:r>
              <a:rPr lang="en-US" sz="4450" b="1" dirty="0">
                <a:solidFill>
                  <a:srgbClr val="FFB393"/>
                </a:solidFill>
                <a:latin typeface="Brygada 1918 Bold" pitchFamily="34" charset="0"/>
                <a:ea typeface="Brygada 1918 Bold" pitchFamily="34" charset="-122"/>
                <a:cs typeface="Brygada 1918 Bold" pitchFamily="34" charset="-120"/>
              </a:rPr>
              <a:t>What We'll Cover</a:t>
            </a:r>
            <a:endParaRPr lang="en-US" sz="4450" dirty="0"/>
          </a:p>
        </p:txBody>
      </p:sp>
      <p:sp>
        <p:nvSpPr>
          <p:cNvPr id="4" name="Text 2"/>
          <p:cNvSpPr/>
          <p:nvPr/>
        </p:nvSpPr>
        <p:spPr>
          <a:xfrm>
            <a:off x="748665" y="2065020"/>
            <a:ext cx="213836" cy="267295"/>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Brygada 1918 Light" pitchFamily="34" charset="0"/>
                <a:ea typeface="Brygada 1918 Light" pitchFamily="34" charset="-122"/>
                <a:cs typeface="Brygada 1918 Light" pitchFamily="34" charset="-120"/>
              </a:rPr>
              <a:t>01</a:t>
            </a:r>
            <a:endParaRPr lang="en-US" sz="1650" dirty="0"/>
          </a:p>
        </p:txBody>
      </p:sp>
      <p:sp>
        <p:nvSpPr>
          <p:cNvPr id="5" name="Shape 3"/>
          <p:cNvSpPr/>
          <p:nvPr/>
        </p:nvSpPr>
        <p:spPr>
          <a:xfrm>
            <a:off x="748665" y="2398038"/>
            <a:ext cx="6459736" cy="30480"/>
          </a:xfrm>
          <a:prstGeom prst="rect">
            <a:avLst/>
          </a:prstGeom>
          <a:solidFill>
            <a:srgbClr val="FFB393"/>
          </a:solidFill>
          <a:ln/>
        </p:spPr>
      </p:sp>
      <p:sp>
        <p:nvSpPr>
          <p:cNvPr id="6" name="Text 4"/>
          <p:cNvSpPr/>
          <p:nvPr/>
        </p:nvSpPr>
        <p:spPr>
          <a:xfrm>
            <a:off x="748665" y="2565916"/>
            <a:ext cx="2852023" cy="356354"/>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Project Overview</a:t>
            </a:r>
            <a:endParaRPr lang="en-US" sz="2200" dirty="0"/>
          </a:p>
        </p:txBody>
      </p:sp>
      <p:sp>
        <p:nvSpPr>
          <p:cNvPr id="7" name="Text 5"/>
          <p:cNvSpPr/>
          <p:nvPr/>
        </p:nvSpPr>
        <p:spPr>
          <a:xfrm>
            <a:off x="748665" y="3050381"/>
            <a:ext cx="6459736" cy="684133"/>
          </a:xfrm>
          <a:prstGeom prst="rect">
            <a:avLst/>
          </a:prstGeom>
          <a:noFill/>
          <a:ln/>
        </p:spPr>
        <p:txBody>
          <a:bodyPr wrap="squar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Introduction to the Restaurant Management Platform and its core capabilities</a:t>
            </a:r>
            <a:endParaRPr lang="en-US" sz="1650" dirty="0"/>
          </a:p>
        </p:txBody>
      </p:sp>
      <p:sp>
        <p:nvSpPr>
          <p:cNvPr id="8" name="Text 6"/>
          <p:cNvSpPr/>
          <p:nvPr/>
        </p:nvSpPr>
        <p:spPr>
          <a:xfrm>
            <a:off x="7421999" y="2065020"/>
            <a:ext cx="213836" cy="267295"/>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Brygada 1918 Light" pitchFamily="34" charset="0"/>
                <a:ea typeface="Brygada 1918 Light" pitchFamily="34" charset="-122"/>
                <a:cs typeface="Brygada 1918 Light" pitchFamily="34" charset="-120"/>
              </a:rPr>
              <a:t>02</a:t>
            </a:r>
            <a:endParaRPr lang="en-US" sz="1650" dirty="0"/>
          </a:p>
        </p:txBody>
      </p:sp>
      <p:sp>
        <p:nvSpPr>
          <p:cNvPr id="9" name="Shape 7"/>
          <p:cNvSpPr/>
          <p:nvPr/>
        </p:nvSpPr>
        <p:spPr>
          <a:xfrm>
            <a:off x="7421999" y="2398038"/>
            <a:ext cx="6459736" cy="30480"/>
          </a:xfrm>
          <a:prstGeom prst="rect">
            <a:avLst/>
          </a:prstGeom>
          <a:solidFill>
            <a:srgbClr val="FFB393"/>
          </a:solidFill>
          <a:ln/>
        </p:spPr>
      </p:sp>
      <p:sp>
        <p:nvSpPr>
          <p:cNvPr id="10" name="Text 8"/>
          <p:cNvSpPr/>
          <p:nvPr/>
        </p:nvSpPr>
        <p:spPr>
          <a:xfrm>
            <a:off x="7421999" y="2565916"/>
            <a:ext cx="3539371" cy="356354"/>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Background &amp; Challenges</a:t>
            </a:r>
            <a:endParaRPr lang="en-US" sz="2200" dirty="0"/>
          </a:p>
        </p:txBody>
      </p:sp>
      <p:sp>
        <p:nvSpPr>
          <p:cNvPr id="11" name="Text 9"/>
          <p:cNvSpPr/>
          <p:nvPr/>
        </p:nvSpPr>
        <p:spPr>
          <a:xfrm>
            <a:off x="7421999" y="3050381"/>
            <a:ext cx="6459736" cy="684133"/>
          </a:xfrm>
          <a:prstGeom prst="rect">
            <a:avLst/>
          </a:prstGeom>
          <a:noFill/>
          <a:ln/>
        </p:spPr>
        <p:txBody>
          <a:bodyPr wrap="squar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Understanding the business problems facing modern restaurants</a:t>
            </a:r>
            <a:endParaRPr lang="en-US" sz="1650" dirty="0"/>
          </a:p>
        </p:txBody>
      </p:sp>
      <p:sp>
        <p:nvSpPr>
          <p:cNvPr id="12" name="Text 10"/>
          <p:cNvSpPr/>
          <p:nvPr/>
        </p:nvSpPr>
        <p:spPr>
          <a:xfrm>
            <a:off x="748665" y="4108490"/>
            <a:ext cx="213836" cy="267295"/>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Brygada 1918 Light" pitchFamily="34" charset="0"/>
                <a:ea typeface="Brygada 1918 Light" pitchFamily="34" charset="-122"/>
                <a:cs typeface="Brygada 1918 Light" pitchFamily="34" charset="-120"/>
              </a:rPr>
              <a:t>03</a:t>
            </a:r>
            <a:endParaRPr lang="en-US" sz="1650" dirty="0"/>
          </a:p>
        </p:txBody>
      </p:sp>
      <p:sp>
        <p:nvSpPr>
          <p:cNvPr id="13" name="Shape 11"/>
          <p:cNvSpPr/>
          <p:nvPr/>
        </p:nvSpPr>
        <p:spPr>
          <a:xfrm>
            <a:off x="748665" y="4441508"/>
            <a:ext cx="6459736" cy="30480"/>
          </a:xfrm>
          <a:prstGeom prst="rect">
            <a:avLst/>
          </a:prstGeom>
          <a:solidFill>
            <a:srgbClr val="FFB393"/>
          </a:solidFill>
          <a:ln/>
        </p:spPr>
      </p:sp>
      <p:sp>
        <p:nvSpPr>
          <p:cNvPr id="14" name="Text 12"/>
          <p:cNvSpPr/>
          <p:nvPr/>
        </p:nvSpPr>
        <p:spPr>
          <a:xfrm>
            <a:off x="748665" y="4609386"/>
            <a:ext cx="2852023" cy="356354"/>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Solution &amp; Impact</a:t>
            </a:r>
            <a:endParaRPr lang="en-US" sz="2200" dirty="0"/>
          </a:p>
        </p:txBody>
      </p:sp>
      <p:sp>
        <p:nvSpPr>
          <p:cNvPr id="15" name="Text 13"/>
          <p:cNvSpPr/>
          <p:nvPr/>
        </p:nvSpPr>
        <p:spPr>
          <a:xfrm>
            <a:off x="748665" y="5093851"/>
            <a:ext cx="6459736" cy="342067"/>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Our proposed platform and expected business outcomes</a:t>
            </a:r>
            <a:endParaRPr lang="en-US" sz="1650" dirty="0"/>
          </a:p>
        </p:txBody>
      </p:sp>
      <p:sp>
        <p:nvSpPr>
          <p:cNvPr id="16" name="Text 14"/>
          <p:cNvSpPr/>
          <p:nvPr/>
        </p:nvSpPr>
        <p:spPr>
          <a:xfrm>
            <a:off x="7421999" y="4108490"/>
            <a:ext cx="213836" cy="267295"/>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Brygada 1918 Light" pitchFamily="34" charset="0"/>
                <a:ea typeface="Brygada 1918 Light" pitchFamily="34" charset="-122"/>
                <a:cs typeface="Brygada 1918 Light" pitchFamily="34" charset="-120"/>
              </a:rPr>
              <a:t>04</a:t>
            </a:r>
            <a:endParaRPr lang="en-US" sz="1650" dirty="0"/>
          </a:p>
        </p:txBody>
      </p:sp>
      <p:sp>
        <p:nvSpPr>
          <p:cNvPr id="17" name="Shape 15"/>
          <p:cNvSpPr/>
          <p:nvPr/>
        </p:nvSpPr>
        <p:spPr>
          <a:xfrm>
            <a:off x="7421999" y="4441508"/>
            <a:ext cx="6459736" cy="30480"/>
          </a:xfrm>
          <a:prstGeom prst="rect">
            <a:avLst/>
          </a:prstGeom>
          <a:solidFill>
            <a:srgbClr val="FFB393"/>
          </a:solidFill>
          <a:ln/>
        </p:spPr>
      </p:sp>
      <p:sp>
        <p:nvSpPr>
          <p:cNvPr id="18" name="Text 16"/>
          <p:cNvSpPr/>
          <p:nvPr/>
        </p:nvSpPr>
        <p:spPr>
          <a:xfrm>
            <a:off x="7421999" y="4609386"/>
            <a:ext cx="2852023" cy="356354"/>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Learning Journey</a:t>
            </a:r>
            <a:endParaRPr lang="en-US" sz="2200" dirty="0"/>
          </a:p>
        </p:txBody>
      </p:sp>
      <p:sp>
        <p:nvSpPr>
          <p:cNvPr id="19" name="Text 17"/>
          <p:cNvSpPr/>
          <p:nvPr/>
        </p:nvSpPr>
        <p:spPr>
          <a:xfrm>
            <a:off x="7421999" y="5093851"/>
            <a:ext cx="6459736" cy="684133"/>
          </a:xfrm>
          <a:prstGeom prst="rect">
            <a:avLst/>
          </a:prstGeom>
          <a:noFill/>
          <a:ln/>
        </p:spPr>
        <p:txBody>
          <a:bodyPr wrap="squar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Key insights from our Business Analysis course and project experience</a:t>
            </a:r>
            <a:endParaRPr lang="en-US" sz="1650" dirty="0"/>
          </a:p>
        </p:txBody>
      </p:sp>
      <p:sp>
        <p:nvSpPr>
          <p:cNvPr id="20" name="Text 18"/>
          <p:cNvSpPr/>
          <p:nvPr/>
        </p:nvSpPr>
        <p:spPr>
          <a:xfrm>
            <a:off x="748665" y="6151959"/>
            <a:ext cx="213836" cy="267295"/>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Brygada 1918 Light" pitchFamily="34" charset="0"/>
                <a:ea typeface="Brygada 1918 Light" pitchFamily="34" charset="-122"/>
                <a:cs typeface="Brygada 1918 Light" pitchFamily="34" charset="-120"/>
              </a:rPr>
              <a:t>05</a:t>
            </a:r>
            <a:endParaRPr lang="en-US" sz="1650" dirty="0"/>
          </a:p>
        </p:txBody>
      </p:sp>
      <p:sp>
        <p:nvSpPr>
          <p:cNvPr id="21" name="Shape 19"/>
          <p:cNvSpPr/>
          <p:nvPr/>
        </p:nvSpPr>
        <p:spPr>
          <a:xfrm>
            <a:off x="748665" y="6484977"/>
            <a:ext cx="6459736" cy="30480"/>
          </a:xfrm>
          <a:prstGeom prst="rect">
            <a:avLst/>
          </a:prstGeom>
          <a:solidFill>
            <a:srgbClr val="FFB393"/>
          </a:solidFill>
          <a:ln/>
        </p:spPr>
      </p:sp>
      <p:sp>
        <p:nvSpPr>
          <p:cNvPr id="22" name="Text 20"/>
          <p:cNvSpPr/>
          <p:nvPr/>
        </p:nvSpPr>
        <p:spPr>
          <a:xfrm>
            <a:off x="748665" y="6652855"/>
            <a:ext cx="3206115" cy="356354"/>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BA Role &amp; Expectations</a:t>
            </a:r>
            <a:endParaRPr lang="en-US" sz="2200" dirty="0"/>
          </a:p>
        </p:txBody>
      </p:sp>
      <p:sp>
        <p:nvSpPr>
          <p:cNvPr id="23" name="Text 21"/>
          <p:cNvSpPr/>
          <p:nvPr/>
        </p:nvSpPr>
        <p:spPr>
          <a:xfrm>
            <a:off x="748665" y="7137321"/>
            <a:ext cx="6459736" cy="342067"/>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Critical considerations and next steps for Business Analysts</a:t>
            </a:r>
            <a:endParaRPr lang="en-US" sz="1650" dirty="0"/>
          </a:p>
        </p:txBody>
      </p:sp>
      <p:sp>
        <p:nvSpPr>
          <p:cNvPr id="24" name="Text 22"/>
          <p:cNvSpPr/>
          <p:nvPr/>
        </p:nvSpPr>
        <p:spPr>
          <a:xfrm>
            <a:off x="7421999" y="6151959"/>
            <a:ext cx="213836" cy="267295"/>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Brygada 1918 Light" pitchFamily="34" charset="0"/>
                <a:ea typeface="Brygada 1918 Light" pitchFamily="34" charset="-122"/>
                <a:cs typeface="Brygada 1918 Light" pitchFamily="34" charset="-120"/>
              </a:rPr>
              <a:t>06</a:t>
            </a:r>
            <a:endParaRPr lang="en-US" sz="1650" dirty="0"/>
          </a:p>
        </p:txBody>
      </p:sp>
      <p:sp>
        <p:nvSpPr>
          <p:cNvPr id="25" name="Shape 23"/>
          <p:cNvSpPr/>
          <p:nvPr/>
        </p:nvSpPr>
        <p:spPr>
          <a:xfrm>
            <a:off x="7421999" y="6484977"/>
            <a:ext cx="6459736" cy="30480"/>
          </a:xfrm>
          <a:prstGeom prst="rect">
            <a:avLst/>
          </a:prstGeom>
          <a:solidFill>
            <a:srgbClr val="FFB393"/>
          </a:solidFill>
          <a:ln/>
        </p:spPr>
      </p:sp>
      <p:sp>
        <p:nvSpPr>
          <p:cNvPr id="26" name="Text 24"/>
          <p:cNvSpPr/>
          <p:nvPr/>
        </p:nvSpPr>
        <p:spPr>
          <a:xfrm>
            <a:off x="7421999" y="6652855"/>
            <a:ext cx="2852023" cy="356354"/>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Conclusion</a:t>
            </a:r>
            <a:endParaRPr lang="en-US" sz="2200" dirty="0"/>
          </a:p>
        </p:txBody>
      </p:sp>
      <p:sp>
        <p:nvSpPr>
          <p:cNvPr id="27" name="Text 25"/>
          <p:cNvSpPr/>
          <p:nvPr/>
        </p:nvSpPr>
        <p:spPr>
          <a:xfrm>
            <a:off x="7421999" y="7137321"/>
            <a:ext cx="6459736" cy="342067"/>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Summary of findings and acknowledgments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49260" y="2102525"/>
            <a:ext cx="5709404" cy="713542"/>
          </a:xfrm>
          <a:prstGeom prst="rect">
            <a:avLst/>
          </a:prstGeom>
          <a:noFill/>
          <a:ln/>
        </p:spPr>
        <p:txBody>
          <a:bodyPr wrap="none" lIns="0" tIns="0" rIns="0" bIns="0" rtlCol="0" anchor="t"/>
          <a:lstStyle/>
          <a:p>
            <a:pPr algn="l" indent="0" marL="0">
              <a:lnSpc>
                <a:spcPts val="5600"/>
              </a:lnSpc>
              <a:buNone/>
            </a:pPr>
            <a:r>
              <a:rPr lang="en-US" sz="4450" b="1" dirty="0">
                <a:solidFill>
                  <a:srgbClr val="FFB393"/>
                </a:solidFill>
                <a:latin typeface="Brygada 1918 Bold" pitchFamily="34" charset="0"/>
                <a:ea typeface="Brygada 1918 Bold" pitchFamily="34" charset="-122"/>
                <a:cs typeface="Brygada 1918 Bold" pitchFamily="34" charset="-120"/>
              </a:rPr>
              <a:t>Meet the Team</a:t>
            </a:r>
            <a:endParaRPr lang="en-US" sz="4450" dirty="0"/>
          </a:p>
        </p:txBody>
      </p:sp>
      <p:pic>
        <p:nvPicPr>
          <p:cNvPr id="3" name="Image 0" descr="preencoded.png">    </p:cNvPr>
          <p:cNvPicPr>
            <a:picLocks noChangeAspect="1"/>
          </p:cNvPicPr>
          <p:nvPr/>
        </p:nvPicPr>
        <p:blipFill>
          <a:blip r:embed="rId1"/>
          <a:stretch>
            <a:fillRect/>
          </a:stretch>
        </p:blipFill>
        <p:spPr>
          <a:xfrm>
            <a:off x="749260" y="3244215"/>
            <a:ext cx="1787723" cy="1787723"/>
          </a:xfrm>
          <a:prstGeom prst="rect">
            <a:avLst/>
          </a:prstGeom>
        </p:spPr>
      </p:pic>
      <p:sp>
        <p:nvSpPr>
          <p:cNvPr id="4" name="Text 1"/>
          <p:cNvSpPr/>
          <p:nvPr/>
        </p:nvSpPr>
        <p:spPr>
          <a:xfrm>
            <a:off x="749260" y="5299472"/>
            <a:ext cx="2854643" cy="356830"/>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Swapnil Raut</a:t>
            </a:r>
            <a:endParaRPr lang="en-US" sz="2200" dirty="0"/>
          </a:p>
        </p:txBody>
      </p:sp>
      <p:sp>
        <p:nvSpPr>
          <p:cNvPr id="5" name="Text 2"/>
          <p:cNvSpPr/>
          <p:nvPr/>
        </p:nvSpPr>
        <p:spPr>
          <a:xfrm>
            <a:off x="749260" y="5784652"/>
            <a:ext cx="3082290" cy="342424"/>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Project Trainer</a:t>
            </a:r>
            <a:endParaRPr lang="en-US" sz="1650" dirty="0"/>
          </a:p>
        </p:txBody>
      </p:sp>
      <p:pic>
        <p:nvPicPr>
          <p:cNvPr id="6" name="Image 1" descr="preencoded.png">    </p:cNvPr>
          <p:cNvPicPr>
            <a:picLocks noChangeAspect="1"/>
          </p:cNvPicPr>
          <p:nvPr/>
        </p:nvPicPr>
        <p:blipFill>
          <a:blip r:embed="rId2"/>
          <a:stretch>
            <a:fillRect/>
          </a:stretch>
        </p:blipFill>
        <p:spPr>
          <a:xfrm>
            <a:off x="4099084" y="3244215"/>
            <a:ext cx="1787723" cy="1787723"/>
          </a:xfrm>
          <a:prstGeom prst="rect">
            <a:avLst/>
          </a:prstGeom>
        </p:spPr>
      </p:pic>
      <p:sp>
        <p:nvSpPr>
          <p:cNvPr id="7" name="Text 3"/>
          <p:cNvSpPr/>
          <p:nvPr/>
        </p:nvSpPr>
        <p:spPr>
          <a:xfrm>
            <a:off x="4099084" y="5299472"/>
            <a:ext cx="2854643" cy="356830"/>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Kadambari Gaikwad</a:t>
            </a:r>
            <a:endParaRPr lang="en-US" sz="2200" dirty="0"/>
          </a:p>
        </p:txBody>
      </p:sp>
      <p:sp>
        <p:nvSpPr>
          <p:cNvPr id="8" name="Text 4"/>
          <p:cNvSpPr/>
          <p:nvPr/>
        </p:nvSpPr>
        <p:spPr>
          <a:xfrm>
            <a:off x="4099084" y="5784652"/>
            <a:ext cx="3082290" cy="342424"/>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Senior Analyst at MRO Corp</a:t>
            </a:r>
            <a:endParaRPr lang="en-US" sz="1650" dirty="0"/>
          </a:p>
        </p:txBody>
      </p:sp>
      <p:pic>
        <p:nvPicPr>
          <p:cNvPr id="9" name="Image 2" descr="preencoded.png">    </p:cNvPr>
          <p:cNvPicPr>
            <a:picLocks noChangeAspect="1"/>
          </p:cNvPicPr>
          <p:nvPr/>
        </p:nvPicPr>
        <p:blipFill>
          <a:blip r:embed="rId3"/>
          <a:stretch>
            <a:fillRect/>
          </a:stretch>
        </p:blipFill>
        <p:spPr>
          <a:xfrm>
            <a:off x="7448907" y="3244215"/>
            <a:ext cx="1787723" cy="1787723"/>
          </a:xfrm>
          <a:prstGeom prst="rect">
            <a:avLst/>
          </a:prstGeom>
        </p:spPr>
      </p:pic>
      <p:sp>
        <p:nvSpPr>
          <p:cNvPr id="10" name="Text 5"/>
          <p:cNvSpPr/>
          <p:nvPr/>
        </p:nvSpPr>
        <p:spPr>
          <a:xfrm>
            <a:off x="7448907" y="5299472"/>
            <a:ext cx="2854643" cy="356830"/>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Aarya Athane</a:t>
            </a:r>
            <a:endParaRPr lang="en-US" sz="2200" dirty="0"/>
          </a:p>
        </p:txBody>
      </p:sp>
      <p:sp>
        <p:nvSpPr>
          <p:cNvPr id="11" name="Text 6"/>
          <p:cNvSpPr/>
          <p:nvPr/>
        </p:nvSpPr>
        <p:spPr>
          <a:xfrm>
            <a:off x="7448907" y="5784652"/>
            <a:ext cx="3082290" cy="342424"/>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BTech in Computer Science</a:t>
            </a:r>
            <a:endParaRPr lang="en-US" sz="1650" dirty="0"/>
          </a:p>
        </p:txBody>
      </p:sp>
      <p:pic>
        <p:nvPicPr>
          <p:cNvPr id="12" name="Image 3" descr="preencoded.png">    </p:cNvPr>
          <p:cNvPicPr>
            <a:picLocks noChangeAspect="1"/>
          </p:cNvPicPr>
          <p:nvPr/>
        </p:nvPicPr>
        <p:blipFill>
          <a:blip r:embed="rId4"/>
          <a:stretch>
            <a:fillRect/>
          </a:stretch>
        </p:blipFill>
        <p:spPr>
          <a:xfrm>
            <a:off x="10798731" y="3244215"/>
            <a:ext cx="1787723" cy="1787723"/>
          </a:xfrm>
          <a:prstGeom prst="rect">
            <a:avLst/>
          </a:prstGeom>
        </p:spPr>
      </p:pic>
      <p:sp>
        <p:nvSpPr>
          <p:cNvPr id="13" name="Text 7"/>
          <p:cNvSpPr/>
          <p:nvPr/>
        </p:nvSpPr>
        <p:spPr>
          <a:xfrm>
            <a:off x="10798731" y="5299472"/>
            <a:ext cx="2854643" cy="356830"/>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Shreya Shelar</a:t>
            </a:r>
            <a:endParaRPr lang="en-US" sz="2200" dirty="0"/>
          </a:p>
        </p:txBody>
      </p:sp>
      <p:sp>
        <p:nvSpPr>
          <p:cNvPr id="14" name="Text 8"/>
          <p:cNvSpPr/>
          <p:nvPr/>
        </p:nvSpPr>
        <p:spPr>
          <a:xfrm>
            <a:off x="10798731" y="5784652"/>
            <a:ext cx="3082409" cy="342424"/>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BSc in Computer Science</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49260" y="670679"/>
            <a:ext cx="4205168" cy="499586"/>
          </a:xfrm>
          <a:prstGeom prst="rect">
            <a:avLst/>
          </a:prstGeom>
          <a:noFill/>
          <a:ln/>
        </p:spPr>
        <p:txBody>
          <a:bodyPr wrap="none" lIns="0" tIns="0" rIns="0" bIns="0" rtlCol="0" anchor="t"/>
          <a:lstStyle/>
          <a:p>
            <a:pPr algn="l" indent="0" marL="0">
              <a:lnSpc>
                <a:spcPts val="3900"/>
              </a:lnSpc>
              <a:buNone/>
            </a:pPr>
            <a:r>
              <a:rPr lang="en-US" sz="3100" b="1" dirty="0">
                <a:solidFill>
                  <a:srgbClr val="FFB393"/>
                </a:solidFill>
                <a:latin typeface="Brygada 1918 Bold" pitchFamily="34" charset="0"/>
                <a:ea typeface="Brygada 1918 Bold" pitchFamily="34" charset="-122"/>
                <a:cs typeface="Brygada 1918 Bold" pitchFamily="34" charset="-120"/>
              </a:rPr>
              <a:t>Our Learning Journey</a:t>
            </a:r>
            <a:endParaRPr lang="en-US" sz="3100" dirty="0"/>
          </a:p>
        </p:txBody>
      </p:sp>
      <p:pic>
        <p:nvPicPr>
          <p:cNvPr id="3" name="Image 0" descr="preencoded.png">    </p:cNvPr>
          <p:cNvPicPr>
            <a:picLocks noChangeAspect="1"/>
          </p:cNvPicPr>
          <p:nvPr/>
        </p:nvPicPr>
        <p:blipFill>
          <a:blip r:embed="rId1"/>
          <a:stretch>
            <a:fillRect/>
          </a:stretch>
        </p:blipFill>
        <p:spPr>
          <a:xfrm>
            <a:off x="2010370" y="1445538"/>
            <a:ext cx="5885378" cy="3016568"/>
          </a:xfrm>
          <a:prstGeom prst="rect">
            <a:avLst/>
          </a:prstGeom>
        </p:spPr>
      </p:pic>
      <p:sp>
        <p:nvSpPr>
          <p:cNvPr id="4" name="Text 1"/>
          <p:cNvSpPr/>
          <p:nvPr/>
        </p:nvSpPr>
        <p:spPr>
          <a:xfrm>
            <a:off x="9530120" y="2476024"/>
            <a:ext cx="2316361" cy="249674"/>
          </a:xfrm>
          <a:prstGeom prst="rect">
            <a:avLst/>
          </a:prstGeom>
          <a:noFill/>
          <a:ln/>
        </p:spPr>
        <p:txBody>
          <a:bodyPr wrap="none" lIns="0" tIns="0" rIns="0" bIns="0" rtlCol="0" anchor="t"/>
          <a:lstStyle/>
          <a:p>
            <a:pPr algn="l" indent="0" marL="0">
              <a:lnSpc>
                <a:spcPts val="1950"/>
              </a:lnSpc>
              <a:buNone/>
            </a:pPr>
            <a:r>
              <a:rPr lang="en-US" sz="1550" b="1" dirty="0">
                <a:solidFill>
                  <a:srgbClr val="FFB393"/>
                </a:solidFill>
                <a:latin typeface="Brygada 1918 Bold" pitchFamily="34" charset="0"/>
                <a:ea typeface="Brygada 1918 Bold" pitchFamily="34" charset="-122"/>
                <a:cs typeface="Brygada 1918 Bold" pitchFamily="34" charset="-120"/>
              </a:rPr>
              <a:t>From Theory to Practice</a:t>
            </a:r>
            <a:endParaRPr lang="en-US" sz="1550" dirty="0"/>
          </a:p>
        </p:txBody>
      </p:sp>
      <p:sp>
        <p:nvSpPr>
          <p:cNvPr id="5" name="Text 2"/>
          <p:cNvSpPr/>
          <p:nvPr/>
        </p:nvSpPr>
        <p:spPr>
          <a:xfrm>
            <a:off x="9530120" y="2830592"/>
            <a:ext cx="4358521" cy="611505"/>
          </a:xfrm>
          <a:prstGeom prst="rect">
            <a:avLst/>
          </a:prstGeom>
          <a:noFill/>
          <a:ln/>
        </p:spPr>
        <p:txBody>
          <a:bodyPr wrap="square" lIns="0" tIns="0" rIns="0" bIns="0" rtlCol="0" anchor="t"/>
          <a:lstStyle/>
          <a:p>
            <a:pPr algn="l"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Our Business Analysis course equipped us with foundational skills, while the project provided invaluable real-world application experience.</a:t>
            </a:r>
            <a:endParaRPr lang="en-US" sz="1150" dirty="0"/>
          </a:p>
        </p:txBody>
      </p:sp>
      <p:sp>
        <p:nvSpPr>
          <p:cNvPr id="6" name="Shape 3"/>
          <p:cNvSpPr/>
          <p:nvPr/>
        </p:nvSpPr>
        <p:spPr>
          <a:xfrm>
            <a:off x="7307580" y="4698087"/>
            <a:ext cx="15240" cy="2860834"/>
          </a:xfrm>
          <a:prstGeom prst="roundRect">
            <a:avLst>
              <a:gd name="adj" fmla="val 147512"/>
            </a:avLst>
          </a:prstGeom>
          <a:solidFill>
            <a:srgbClr val="662E42"/>
          </a:solidFill>
          <a:ln/>
        </p:spPr>
      </p:sp>
      <p:sp>
        <p:nvSpPr>
          <p:cNvPr id="7" name="Shape 4"/>
          <p:cNvSpPr/>
          <p:nvPr/>
        </p:nvSpPr>
        <p:spPr>
          <a:xfrm>
            <a:off x="734020" y="4698087"/>
            <a:ext cx="6565940" cy="1223605"/>
          </a:xfrm>
          <a:prstGeom prst="roundRect">
            <a:avLst>
              <a:gd name="adj" fmla="val 1837"/>
            </a:avLst>
          </a:prstGeom>
          <a:solidFill>
            <a:srgbClr val="4D1529"/>
          </a:solidFill>
          <a:ln/>
        </p:spPr>
      </p:sp>
      <p:sp>
        <p:nvSpPr>
          <p:cNvPr id="8" name="Text 5"/>
          <p:cNvSpPr/>
          <p:nvPr/>
        </p:nvSpPr>
        <p:spPr>
          <a:xfrm>
            <a:off x="4906566" y="4847868"/>
            <a:ext cx="2243614" cy="249674"/>
          </a:xfrm>
          <a:prstGeom prst="rect">
            <a:avLst/>
          </a:prstGeom>
          <a:noFill/>
          <a:ln/>
        </p:spPr>
        <p:txBody>
          <a:bodyPr wrap="none" lIns="0" tIns="0" rIns="0" bIns="0" rtlCol="0" anchor="t"/>
          <a:lstStyle/>
          <a:p>
            <a:pPr algn="r"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BA Course Foundations</a:t>
            </a:r>
            <a:endParaRPr lang="en-US" sz="1550" dirty="0"/>
          </a:p>
        </p:txBody>
      </p:sp>
      <p:sp>
        <p:nvSpPr>
          <p:cNvPr id="9" name="Text 6"/>
          <p:cNvSpPr/>
          <p:nvPr/>
        </p:nvSpPr>
        <p:spPr>
          <a:xfrm>
            <a:off x="883801" y="5160407"/>
            <a:ext cx="6266378" cy="611505"/>
          </a:xfrm>
          <a:prstGeom prst="rect">
            <a:avLst/>
          </a:prstGeom>
          <a:noFill/>
          <a:ln/>
        </p:spPr>
        <p:txBody>
          <a:bodyPr wrap="square" lIns="0" tIns="0" rIns="0" bIns="0" rtlCol="0" anchor="t"/>
          <a:lstStyle/>
          <a:p>
            <a:pPr algn="r"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Business Analysis fundamentals, requirement documentation (BRD, FRD, RTM), SDLC models, stakeholder management, process modeling with UML, gap analysis, risk management, and industry-standard tools like JIRA</a:t>
            </a:r>
            <a:endParaRPr lang="en-US" sz="1150" dirty="0"/>
          </a:p>
        </p:txBody>
      </p:sp>
      <p:sp>
        <p:nvSpPr>
          <p:cNvPr id="10" name="Shape 7"/>
          <p:cNvSpPr/>
          <p:nvPr/>
        </p:nvSpPr>
        <p:spPr>
          <a:xfrm>
            <a:off x="7330440" y="6131481"/>
            <a:ext cx="6565940" cy="1427440"/>
          </a:xfrm>
          <a:prstGeom prst="rect">
            <a:avLst/>
          </a:prstGeom>
          <a:solidFill>
            <a:srgbClr val="4D1529"/>
          </a:solidFill>
          <a:ln/>
        </p:spPr>
      </p:sp>
      <p:sp>
        <p:nvSpPr>
          <p:cNvPr id="11" name="Text 8"/>
          <p:cNvSpPr/>
          <p:nvPr/>
        </p:nvSpPr>
        <p:spPr>
          <a:xfrm>
            <a:off x="7480221" y="6281261"/>
            <a:ext cx="2313384" cy="249674"/>
          </a:xfrm>
          <a:prstGeom prst="rect">
            <a:avLst/>
          </a:prstGeom>
          <a:noFill/>
          <a:ln/>
        </p:spPr>
        <p:txBody>
          <a:bodyPr wrap="none" lIns="0" tIns="0" rIns="0" bIns="0" rtlCol="0" anchor="t"/>
          <a:lstStyle/>
          <a:p>
            <a:pPr algn="l"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Project Implementation</a:t>
            </a:r>
            <a:endParaRPr lang="en-US" sz="1550" dirty="0"/>
          </a:p>
        </p:txBody>
      </p:sp>
      <p:sp>
        <p:nvSpPr>
          <p:cNvPr id="12" name="Text 9"/>
          <p:cNvSpPr/>
          <p:nvPr/>
        </p:nvSpPr>
        <p:spPr>
          <a:xfrm>
            <a:off x="7480221" y="6593800"/>
            <a:ext cx="6266378" cy="815340"/>
          </a:xfrm>
          <a:prstGeom prst="rect">
            <a:avLst/>
          </a:prstGeom>
          <a:noFill/>
          <a:ln/>
        </p:spPr>
        <p:txBody>
          <a:bodyPr wrap="square" lIns="0" tIns="0" rIns="0" bIns="0" rtlCol="0" anchor="t"/>
          <a:lstStyle/>
          <a:p>
            <a:pPr algn="l"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Applied elicitation techniques through client workshops, implemented Agile and Waterfall methodologies, managed cross-functional teams, participated in the complete Software Development Business Cycle, handled pre-sales demonstrations, and coordinated between business and technical teams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49260" y="1007983"/>
            <a:ext cx="3996571" cy="499586"/>
          </a:xfrm>
          <a:prstGeom prst="rect">
            <a:avLst/>
          </a:prstGeom>
          <a:noFill/>
          <a:ln/>
        </p:spPr>
        <p:txBody>
          <a:bodyPr wrap="none" lIns="0" tIns="0" rIns="0" bIns="0" rtlCol="0" anchor="t"/>
          <a:lstStyle/>
          <a:p>
            <a:pPr algn="l" indent="0" marL="0">
              <a:lnSpc>
                <a:spcPts val="3900"/>
              </a:lnSpc>
              <a:buNone/>
            </a:pPr>
            <a:r>
              <a:rPr lang="en-US" sz="3100" b="1" dirty="0">
                <a:solidFill>
                  <a:srgbClr val="FFB393"/>
                </a:solidFill>
                <a:latin typeface="Brygada 1918 Bold" pitchFamily="34" charset="0"/>
                <a:ea typeface="Brygada 1918 Bold" pitchFamily="34" charset="-122"/>
                <a:cs typeface="Brygada 1918 Bold" pitchFamily="34" charset="-120"/>
              </a:rPr>
              <a:t>Project Overview</a:t>
            </a:r>
            <a:endParaRPr lang="en-US" sz="3100" dirty="0"/>
          </a:p>
        </p:txBody>
      </p:sp>
      <p:sp>
        <p:nvSpPr>
          <p:cNvPr id="4" name="Text 1"/>
          <p:cNvSpPr/>
          <p:nvPr/>
        </p:nvSpPr>
        <p:spPr>
          <a:xfrm>
            <a:off x="749260" y="1664851"/>
            <a:ext cx="7645479" cy="611505"/>
          </a:xfrm>
          <a:prstGeom prst="rect">
            <a:avLst/>
          </a:prstGeom>
          <a:noFill/>
          <a:ln/>
        </p:spPr>
        <p:txBody>
          <a:bodyPr wrap="square" lIns="0" tIns="0" rIns="0" bIns="0" rtlCol="0" anchor="t"/>
          <a:lstStyle/>
          <a:p>
            <a:pPr algn="l"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The Restaurant Management Platform is a centralized solution designed to streamline dine-in, takeaway, and delivery operations for single and multi-branch restaurants. Our comprehensive system integrates all aspects of restaurant management into one powerful platform.</a:t>
            </a:r>
            <a:endParaRPr lang="en-US" sz="1150" dirty="0"/>
          </a:p>
        </p:txBody>
      </p:sp>
      <p:sp>
        <p:nvSpPr>
          <p:cNvPr id="5" name="Shape 2"/>
          <p:cNvSpPr/>
          <p:nvPr/>
        </p:nvSpPr>
        <p:spPr>
          <a:xfrm>
            <a:off x="749260" y="2394347"/>
            <a:ext cx="2478524" cy="1223605"/>
          </a:xfrm>
          <a:prstGeom prst="roundRect">
            <a:avLst>
              <a:gd name="adj" fmla="val 1837"/>
            </a:avLst>
          </a:prstGeom>
          <a:solidFill>
            <a:srgbClr val="4D1529"/>
          </a:solidFill>
          <a:ln/>
        </p:spPr>
      </p:sp>
      <p:sp>
        <p:nvSpPr>
          <p:cNvPr id="6" name="Text 3"/>
          <p:cNvSpPr/>
          <p:nvPr/>
        </p:nvSpPr>
        <p:spPr>
          <a:xfrm>
            <a:off x="899041" y="2544128"/>
            <a:ext cx="1998226" cy="249674"/>
          </a:xfrm>
          <a:prstGeom prst="rect">
            <a:avLst/>
          </a:prstGeom>
          <a:noFill/>
          <a:ln/>
        </p:spPr>
        <p:txBody>
          <a:bodyPr wrap="none" lIns="0" tIns="0" rIns="0" bIns="0" rtlCol="0" anchor="t"/>
          <a:lstStyle/>
          <a:p>
            <a:pPr algn="l"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Order Management</a:t>
            </a:r>
            <a:endParaRPr lang="en-US" sz="1550" dirty="0"/>
          </a:p>
        </p:txBody>
      </p:sp>
      <p:sp>
        <p:nvSpPr>
          <p:cNvPr id="7" name="Text 4"/>
          <p:cNvSpPr/>
          <p:nvPr/>
        </p:nvSpPr>
        <p:spPr>
          <a:xfrm>
            <a:off x="899041" y="2856667"/>
            <a:ext cx="2178963" cy="611505"/>
          </a:xfrm>
          <a:prstGeom prst="rect">
            <a:avLst/>
          </a:prstGeom>
          <a:noFill/>
          <a:ln/>
        </p:spPr>
        <p:txBody>
          <a:bodyPr wrap="square" lIns="0" tIns="0" rIns="0" bIns="0" rtlCol="0" anchor="t"/>
          <a:lstStyle/>
          <a:p>
            <a:pPr algn="l"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Online &amp; offline order processing with real-time tracking across all channels</a:t>
            </a:r>
            <a:endParaRPr lang="en-US" sz="1150" dirty="0"/>
          </a:p>
        </p:txBody>
      </p:sp>
      <p:sp>
        <p:nvSpPr>
          <p:cNvPr id="8" name="Shape 5"/>
          <p:cNvSpPr/>
          <p:nvPr/>
        </p:nvSpPr>
        <p:spPr>
          <a:xfrm>
            <a:off x="3332678" y="2394347"/>
            <a:ext cx="2478524" cy="1223605"/>
          </a:xfrm>
          <a:prstGeom prst="roundRect">
            <a:avLst>
              <a:gd name="adj" fmla="val 1837"/>
            </a:avLst>
          </a:prstGeom>
          <a:solidFill>
            <a:srgbClr val="4D1529"/>
          </a:solidFill>
          <a:ln/>
        </p:spPr>
      </p:sp>
      <p:sp>
        <p:nvSpPr>
          <p:cNvPr id="9" name="Text 6"/>
          <p:cNvSpPr/>
          <p:nvPr/>
        </p:nvSpPr>
        <p:spPr>
          <a:xfrm>
            <a:off x="3482459" y="2544128"/>
            <a:ext cx="2085380" cy="249674"/>
          </a:xfrm>
          <a:prstGeom prst="rect">
            <a:avLst/>
          </a:prstGeom>
          <a:noFill/>
          <a:ln/>
        </p:spPr>
        <p:txBody>
          <a:bodyPr wrap="none" lIns="0" tIns="0" rIns="0" bIns="0" rtlCol="0" anchor="t"/>
          <a:lstStyle/>
          <a:p>
            <a:pPr algn="l"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Financial Compliance</a:t>
            </a:r>
            <a:endParaRPr lang="en-US" sz="1550" dirty="0"/>
          </a:p>
        </p:txBody>
      </p:sp>
      <p:sp>
        <p:nvSpPr>
          <p:cNvPr id="10" name="Text 7"/>
          <p:cNvSpPr/>
          <p:nvPr/>
        </p:nvSpPr>
        <p:spPr>
          <a:xfrm>
            <a:off x="3482459" y="2856667"/>
            <a:ext cx="2178963" cy="611505"/>
          </a:xfrm>
          <a:prstGeom prst="rect">
            <a:avLst/>
          </a:prstGeom>
          <a:noFill/>
          <a:ln/>
        </p:spPr>
        <p:txBody>
          <a:bodyPr wrap="square" lIns="0" tIns="0" rIns="0" bIns="0" rtlCol="0" anchor="t"/>
          <a:lstStyle/>
          <a:p>
            <a:pPr algn="l"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GST-compliant billing with secure third-party payment integration</a:t>
            </a:r>
            <a:endParaRPr lang="en-US" sz="1150" dirty="0"/>
          </a:p>
        </p:txBody>
      </p:sp>
      <p:sp>
        <p:nvSpPr>
          <p:cNvPr id="11" name="Shape 8"/>
          <p:cNvSpPr/>
          <p:nvPr/>
        </p:nvSpPr>
        <p:spPr>
          <a:xfrm>
            <a:off x="5916097" y="2394347"/>
            <a:ext cx="2478643" cy="1223605"/>
          </a:xfrm>
          <a:prstGeom prst="roundRect">
            <a:avLst>
              <a:gd name="adj" fmla="val 1837"/>
            </a:avLst>
          </a:prstGeom>
          <a:solidFill>
            <a:srgbClr val="4D1529"/>
          </a:solidFill>
          <a:ln/>
        </p:spPr>
      </p:sp>
      <p:sp>
        <p:nvSpPr>
          <p:cNvPr id="12" name="Text 9"/>
          <p:cNvSpPr/>
          <p:nvPr/>
        </p:nvSpPr>
        <p:spPr>
          <a:xfrm>
            <a:off x="6065877" y="2544128"/>
            <a:ext cx="2080855" cy="249674"/>
          </a:xfrm>
          <a:prstGeom prst="rect">
            <a:avLst/>
          </a:prstGeom>
          <a:noFill/>
          <a:ln/>
        </p:spPr>
        <p:txBody>
          <a:bodyPr wrap="none" lIns="0" tIns="0" rIns="0" bIns="0" rtlCol="0" anchor="t"/>
          <a:lstStyle/>
          <a:p>
            <a:pPr algn="l"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Customer Experience</a:t>
            </a:r>
            <a:endParaRPr lang="en-US" sz="1550" dirty="0"/>
          </a:p>
        </p:txBody>
      </p:sp>
      <p:sp>
        <p:nvSpPr>
          <p:cNvPr id="13" name="Text 10"/>
          <p:cNvSpPr/>
          <p:nvPr/>
        </p:nvSpPr>
        <p:spPr>
          <a:xfrm>
            <a:off x="6065877" y="2856667"/>
            <a:ext cx="2179082" cy="611505"/>
          </a:xfrm>
          <a:prstGeom prst="rect">
            <a:avLst/>
          </a:prstGeom>
          <a:noFill/>
          <a:ln/>
        </p:spPr>
        <p:txBody>
          <a:bodyPr wrap="square" lIns="0" tIns="0" rIns="0" bIns="0" rtlCol="0" anchor="t"/>
          <a:lstStyle/>
          <a:p>
            <a:pPr algn="l"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CRM &amp; loyalty management with role-based access control</a:t>
            </a:r>
            <a:endParaRPr lang="en-US" sz="1150" dirty="0"/>
          </a:p>
        </p:txBody>
      </p:sp>
      <p:pic>
        <p:nvPicPr>
          <p:cNvPr id="1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9260" y="3735943"/>
            <a:ext cx="374571" cy="374571"/>
          </a:xfrm>
          <a:prstGeom prst="rect">
            <a:avLst/>
          </a:prstGeom>
        </p:spPr>
      </p:pic>
      <p:sp>
        <p:nvSpPr>
          <p:cNvPr id="15" name="Text 11"/>
          <p:cNvSpPr/>
          <p:nvPr/>
        </p:nvSpPr>
        <p:spPr>
          <a:xfrm>
            <a:off x="749260" y="4241602"/>
            <a:ext cx="1998226" cy="249674"/>
          </a:xfrm>
          <a:prstGeom prst="rect">
            <a:avLst/>
          </a:prstGeom>
          <a:noFill/>
          <a:ln/>
        </p:spPr>
        <p:txBody>
          <a:bodyPr wrap="none" lIns="0" tIns="0" rIns="0" bIns="0" rtlCol="0" anchor="t"/>
          <a:lstStyle/>
          <a:p>
            <a:pPr algn="l"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Web Accessibility</a:t>
            </a:r>
            <a:endParaRPr lang="en-US" sz="1550" dirty="0"/>
          </a:p>
        </p:txBody>
      </p:sp>
      <p:sp>
        <p:nvSpPr>
          <p:cNvPr id="16" name="Text 12"/>
          <p:cNvSpPr/>
          <p:nvPr/>
        </p:nvSpPr>
        <p:spPr>
          <a:xfrm>
            <a:off x="749260" y="4554141"/>
            <a:ext cx="7645479" cy="203835"/>
          </a:xfrm>
          <a:prstGeom prst="rect">
            <a:avLst/>
          </a:prstGeom>
          <a:noFill/>
          <a:ln/>
        </p:spPr>
        <p:txBody>
          <a:bodyPr wrap="none" lIns="0" tIns="0" rIns="0" bIns="0" rtlCol="0" anchor="t"/>
          <a:lstStyle/>
          <a:p>
            <a:pPr algn="l"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Full-featured desktop platform for comprehensive restaurant management</a:t>
            </a:r>
            <a:endParaRPr lang="en-US" sz="1150" dirty="0"/>
          </a:p>
        </p:txBody>
      </p:sp>
      <p:pic>
        <p:nvPicPr>
          <p:cNvPr id="1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9260" y="4967764"/>
            <a:ext cx="374571" cy="374571"/>
          </a:xfrm>
          <a:prstGeom prst="rect">
            <a:avLst/>
          </a:prstGeom>
        </p:spPr>
      </p:pic>
      <p:sp>
        <p:nvSpPr>
          <p:cNvPr id="18" name="Text 13"/>
          <p:cNvSpPr/>
          <p:nvPr/>
        </p:nvSpPr>
        <p:spPr>
          <a:xfrm>
            <a:off x="749260" y="5473422"/>
            <a:ext cx="1998226" cy="249674"/>
          </a:xfrm>
          <a:prstGeom prst="rect">
            <a:avLst/>
          </a:prstGeom>
          <a:noFill/>
          <a:ln/>
        </p:spPr>
        <p:txBody>
          <a:bodyPr wrap="none" lIns="0" tIns="0" rIns="0" bIns="0" rtlCol="0" anchor="t"/>
          <a:lstStyle/>
          <a:p>
            <a:pPr algn="l"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Mobile Accessibility</a:t>
            </a:r>
            <a:endParaRPr lang="en-US" sz="1550" dirty="0"/>
          </a:p>
        </p:txBody>
      </p:sp>
      <p:sp>
        <p:nvSpPr>
          <p:cNvPr id="19" name="Text 14"/>
          <p:cNvSpPr/>
          <p:nvPr/>
        </p:nvSpPr>
        <p:spPr>
          <a:xfrm>
            <a:off x="749260" y="5785961"/>
            <a:ext cx="7645479" cy="203835"/>
          </a:xfrm>
          <a:prstGeom prst="rect">
            <a:avLst/>
          </a:prstGeom>
          <a:noFill/>
          <a:ln/>
        </p:spPr>
        <p:txBody>
          <a:bodyPr wrap="none" lIns="0" tIns="0" rIns="0" bIns="0" rtlCol="0" anchor="t"/>
          <a:lstStyle/>
          <a:p>
            <a:pPr algn="l"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On-the-go management with iOS and Android applications</a:t>
            </a:r>
            <a:endParaRPr lang="en-US" sz="1150" dirty="0"/>
          </a:p>
        </p:txBody>
      </p:sp>
      <p:pic>
        <p:nvPicPr>
          <p:cNvPr id="2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49260" y="6199584"/>
            <a:ext cx="374571" cy="374571"/>
          </a:xfrm>
          <a:prstGeom prst="rect">
            <a:avLst/>
          </a:prstGeom>
        </p:spPr>
      </p:pic>
      <p:sp>
        <p:nvSpPr>
          <p:cNvPr id="21" name="Text 15"/>
          <p:cNvSpPr/>
          <p:nvPr/>
        </p:nvSpPr>
        <p:spPr>
          <a:xfrm>
            <a:off x="749260" y="6705243"/>
            <a:ext cx="2113598" cy="249674"/>
          </a:xfrm>
          <a:prstGeom prst="rect">
            <a:avLst/>
          </a:prstGeom>
          <a:noFill/>
          <a:ln/>
        </p:spPr>
        <p:txBody>
          <a:bodyPr wrap="none" lIns="0" tIns="0" rIns="0" bIns="0" rtlCol="0" anchor="t"/>
          <a:lstStyle/>
          <a:p>
            <a:pPr algn="l"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Analytics &amp; Reporting</a:t>
            </a:r>
            <a:endParaRPr lang="en-US" sz="1550" dirty="0"/>
          </a:p>
        </p:txBody>
      </p:sp>
      <p:sp>
        <p:nvSpPr>
          <p:cNvPr id="22" name="Text 16"/>
          <p:cNvSpPr/>
          <p:nvPr/>
        </p:nvSpPr>
        <p:spPr>
          <a:xfrm>
            <a:off x="749260" y="7017782"/>
            <a:ext cx="7645479" cy="203835"/>
          </a:xfrm>
          <a:prstGeom prst="rect">
            <a:avLst/>
          </a:prstGeom>
          <a:noFill/>
          <a:ln/>
        </p:spPr>
        <p:txBody>
          <a:bodyPr wrap="none" lIns="0" tIns="0" rIns="0" bIns="0" rtlCol="0" anchor="t"/>
          <a:lstStyle/>
          <a:p>
            <a:pPr algn="l"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Performance dashboards with branch-wise insights and exportable reports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49260" y="658535"/>
            <a:ext cx="9944338" cy="606623"/>
          </a:xfrm>
          <a:prstGeom prst="rect">
            <a:avLst/>
          </a:prstGeom>
          <a:noFill/>
          <a:ln/>
        </p:spPr>
        <p:txBody>
          <a:bodyPr wrap="none" lIns="0" tIns="0" rIns="0" bIns="0" rtlCol="0" anchor="t"/>
          <a:lstStyle/>
          <a:p>
            <a:pPr algn="l" indent="0" marL="0">
              <a:lnSpc>
                <a:spcPts val="4750"/>
              </a:lnSpc>
              <a:buNone/>
            </a:pPr>
            <a:r>
              <a:rPr lang="en-US" sz="3800" b="1" dirty="0">
                <a:solidFill>
                  <a:srgbClr val="FFB393"/>
                </a:solidFill>
                <a:latin typeface="Brygada 1918 Bold" pitchFamily="34" charset="0"/>
                <a:ea typeface="Brygada 1918 Bold" pitchFamily="34" charset="-122"/>
                <a:cs typeface="Brygada 1918 Bold" pitchFamily="34" charset="-120"/>
              </a:rPr>
              <a:t>Background: Understanding the Challenge</a:t>
            </a:r>
            <a:endParaRPr lang="en-US" sz="3800" dirty="0"/>
          </a:p>
        </p:txBody>
      </p:sp>
      <p:pic>
        <p:nvPicPr>
          <p:cNvPr id="3" name="Image 0" descr="preencoded.png">    </p:cNvPr>
          <p:cNvPicPr>
            <a:picLocks noChangeAspect="1"/>
          </p:cNvPicPr>
          <p:nvPr/>
        </p:nvPicPr>
        <p:blipFill>
          <a:blip r:embed="rId1"/>
          <a:stretch>
            <a:fillRect/>
          </a:stretch>
        </p:blipFill>
        <p:spPr>
          <a:xfrm>
            <a:off x="1377791" y="2546152"/>
            <a:ext cx="7123271" cy="3975735"/>
          </a:xfrm>
          <a:prstGeom prst="rect">
            <a:avLst/>
          </a:prstGeom>
        </p:spPr>
      </p:pic>
      <p:sp>
        <p:nvSpPr>
          <p:cNvPr id="4" name="Text 1"/>
          <p:cNvSpPr/>
          <p:nvPr/>
        </p:nvSpPr>
        <p:spPr>
          <a:xfrm>
            <a:off x="9581078" y="1651754"/>
            <a:ext cx="2883456" cy="303252"/>
          </a:xfrm>
          <a:prstGeom prst="rect">
            <a:avLst/>
          </a:prstGeom>
          <a:noFill/>
          <a:ln/>
        </p:spPr>
        <p:txBody>
          <a:bodyPr wrap="none" lIns="0" tIns="0" rIns="0" bIns="0" rtlCol="0" anchor="t"/>
          <a:lstStyle/>
          <a:p>
            <a:pPr algn="l" indent="0" marL="0">
              <a:lnSpc>
                <a:spcPts val="2350"/>
              </a:lnSpc>
              <a:buNone/>
            </a:pPr>
            <a:r>
              <a:rPr lang="en-US" sz="1900" b="1" dirty="0">
                <a:solidFill>
                  <a:srgbClr val="FFB393"/>
                </a:solidFill>
                <a:latin typeface="Brygada 1918 Bold" pitchFamily="34" charset="0"/>
                <a:ea typeface="Brygada 1918 Bold" pitchFamily="34" charset="-122"/>
                <a:cs typeface="Brygada 1918 Bold" pitchFamily="34" charset="-120"/>
              </a:rPr>
              <a:t>The Customers We Serve</a:t>
            </a:r>
            <a:endParaRPr lang="en-US" sz="1900" dirty="0"/>
          </a:p>
        </p:txBody>
      </p:sp>
      <p:sp>
        <p:nvSpPr>
          <p:cNvPr id="5" name="Text 2"/>
          <p:cNvSpPr/>
          <p:nvPr/>
        </p:nvSpPr>
        <p:spPr>
          <a:xfrm>
            <a:off x="9581078" y="2109668"/>
            <a:ext cx="4307562" cy="1885236"/>
          </a:xfrm>
          <a:prstGeom prst="rect">
            <a:avLst/>
          </a:prstGeom>
          <a:noFill/>
          <a:ln/>
        </p:spPr>
        <p:txBody>
          <a:bodyPr wrap="square" lIns="0" tIns="0" rIns="0" bIns="0" rtlCol="0" anchor="t"/>
          <a:lstStyle/>
          <a:p>
            <a:pPr algn="l"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Our primary users are restaurant owners, multi-branch chains, café operators, and QSR establishments managing complex dine-in, takeaway, and delivery operations. Secondary stakeholders include managers, billing staff, kitchen teams, delivery partners, and end customers.</a:t>
            </a:r>
            <a:endParaRPr lang="en-US" sz="1400" dirty="0"/>
          </a:p>
        </p:txBody>
      </p:sp>
      <p:sp>
        <p:nvSpPr>
          <p:cNvPr id="6" name="Text 3"/>
          <p:cNvSpPr/>
          <p:nvPr/>
        </p:nvSpPr>
        <p:spPr>
          <a:xfrm>
            <a:off x="9581078" y="4149566"/>
            <a:ext cx="2723912" cy="303252"/>
          </a:xfrm>
          <a:prstGeom prst="rect">
            <a:avLst/>
          </a:prstGeom>
          <a:noFill/>
          <a:ln/>
        </p:spPr>
        <p:txBody>
          <a:bodyPr wrap="none" lIns="0" tIns="0" rIns="0" bIns="0" rtlCol="0" anchor="t"/>
          <a:lstStyle/>
          <a:p>
            <a:pPr algn="l" indent="0" marL="0">
              <a:lnSpc>
                <a:spcPts val="2350"/>
              </a:lnSpc>
              <a:buNone/>
            </a:pPr>
            <a:r>
              <a:rPr lang="en-US" sz="1900" b="1" dirty="0">
                <a:solidFill>
                  <a:srgbClr val="FFB393"/>
                </a:solidFill>
                <a:latin typeface="Brygada 1918 Bold" pitchFamily="34" charset="0"/>
                <a:ea typeface="Brygada 1918 Bold" pitchFamily="34" charset="-122"/>
                <a:cs typeface="Brygada 1918 Bold" pitchFamily="34" charset="-120"/>
              </a:rPr>
              <a:t>Critical Business Needs</a:t>
            </a:r>
            <a:endParaRPr lang="en-US" sz="1900" dirty="0"/>
          </a:p>
        </p:txBody>
      </p:sp>
      <p:sp>
        <p:nvSpPr>
          <p:cNvPr id="7" name="Text 4"/>
          <p:cNvSpPr/>
          <p:nvPr/>
        </p:nvSpPr>
        <p:spPr>
          <a:xfrm>
            <a:off x="9581078" y="4607481"/>
            <a:ext cx="4307562" cy="2693419"/>
          </a:xfrm>
          <a:prstGeom prst="rect">
            <a:avLst/>
          </a:prstGeom>
          <a:noFill/>
          <a:ln/>
        </p:spPr>
        <p:txBody>
          <a:bodyPr wrap="square" lIns="0" tIns="0" rIns="0" bIns="0" rtlCol="0" anchor="t"/>
          <a:lstStyle/>
          <a:p>
            <a:pPr algn="l" marL="342900" indent="-342900">
              <a:lnSpc>
                <a:spcPts val="2100"/>
              </a:lnSpc>
              <a:buSzPct val="100000"/>
              <a:buChar char="•"/>
            </a:pPr>
            <a:r>
              <a:rPr lang="en-US" sz="1400" dirty="0">
                <a:solidFill>
                  <a:srgbClr val="F4CAB8"/>
                </a:solidFill>
                <a:latin typeface="Montserrat Medium" pitchFamily="34" charset="0"/>
                <a:ea typeface="Montserrat Medium" pitchFamily="34" charset="-122"/>
                <a:cs typeface="Montserrat Medium" pitchFamily="34" charset="-120"/>
              </a:rPr>
              <a:t>Centralized platform for multi-channel order management</a:t>
            </a:r>
            <a:endParaRPr lang="en-US" sz="1400" dirty="0"/>
          </a:p>
          <a:p>
            <a:pPr algn="l" marL="342900" indent="-342900">
              <a:lnSpc>
                <a:spcPts val="2100"/>
              </a:lnSpc>
              <a:buSzPct val="100000"/>
              <a:buChar char="•"/>
            </a:pPr>
            <a:r>
              <a:rPr lang="en-US" sz="1400" dirty="0">
                <a:solidFill>
                  <a:srgbClr val="F4CAB8"/>
                </a:solidFill>
                <a:latin typeface="Montserrat Medium" pitchFamily="34" charset="0"/>
                <a:ea typeface="Montserrat Medium" pitchFamily="34" charset="-122"/>
                <a:cs typeface="Montserrat Medium" pitchFamily="34" charset="-120"/>
              </a:rPr>
              <a:t>Real-time tracking with GST-compliant billing</a:t>
            </a:r>
            <a:endParaRPr lang="en-US" sz="1400" dirty="0"/>
          </a:p>
          <a:p>
            <a:pPr algn="l" marL="342900" indent="-342900">
              <a:lnSpc>
                <a:spcPts val="2100"/>
              </a:lnSpc>
              <a:buSzPct val="100000"/>
              <a:buChar char="•"/>
            </a:pPr>
            <a:r>
              <a:rPr lang="en-US" sz="1400" dirty="0">
                <a:solidFill>
                  <a:srgbClr val="F4CAB8"/>
                </a:solidFill>
                <a:latin typeface="Montserrat Medium" pitchFamily="34" charset="0"/>
                <a:ea typeface="Montserrat Medium" pitchFamily="34" charset="-122"/>
                <a:cs typeface="Montserrat Medium" pitchFamily="34" charset="-120"/>
              </a:rPr>
              <a:t>Secure payment integration and customer data management</a:t>
            </a:r>
            <a:endParaRPr lang="en-US" sz="1400" dirty="0"/>
          </a:p>
          <a:p>
            <a:pPr algn="l" marL="342900" indent="-342900">
              <a:lnSpc>
                <a:spcPts val="2100"/>
              </a:lnSpc>
              <a:buSzPct val="100000"/>
              <a:buChar char="•"/>
            </a:pPr>
            <a:r>
              <a:rPr lang="en-US" sz="1400" dirty="0">
                <a:solidFill>
                  <a:srgbClr val="F4CAB8"/>
                </a:solidFill>
                <a:latin typeface="Montserrat Medium" pitchFamily="34" charset="0"/>
                <a:ea typeface="Montserrat Medium" pitchFamily="34" charset="-122"/>
                <a:cs typeface="Montserrat Medium" pitchFamily="34" charset="-120"/>
              </a:rPr>
              <a:t>Role-based access with performance dashboards</a:t>
            </a:r>
            <a:endParaRPr lang="en-US" sz="1400" dirty="0"/>
          </a:p>
          <a:p>
            <a:pPr algn="l" marL="342900" indent="-342900">
              <a:lnSpc>
                <a:spcPts val="2100"/>
              </a:lnSpc>
              <a:buSzPct val="100000"/>
              <a:buChar char="•"/>
            </a:pPr>
            <a:r>
              <a:rPr lang="en-US" sz="1400" dirty="0">
                <a:solidFill>
                  <a:srgbClr val="F4CAB8"/>
                </a:solidFill>
                <a:latin typeface="Montserrat Medium" pitchFamily="34" charset="0"/>
                <a:ea typeface="Montserrat Medium" pitchFamily="34" charset="-122"/>
                <a:cs typeface="Montserrat Medium" pitchFamily="34" charset="-120"/>
              </a:rPr>
              <a:t>Online and offline capability for uninterrupted service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9730" y="549712"/>
            <a:ext cx="1879521" cy="216456"/>
          </a:xfrm>
          <a:prstGeom prst="rect">
            <a:avLst/>
          </a:prstGeom>
          <a:noFill/>
          <a:ln/>
        </p:spPr>
        <p:txBody>
          <a:bodyPr wrap="none" lIns="0" tIns="0" rIns="0" bIns="0" rtlCol="0" anchor="t"/>
          <a:lstStyle/>
          <a:p>
            <a:pPr algn="l" indent="0" marL="0">
              <a:lnSpc>
                <a:spcPts val="1700"/>
              </a:lnSpc>
              <a:buNone/>
            </a:pPr>
            <a:r>
              <a:rPr lang="en-US" sz="1350" b="1" dirty="0">
                <a:solidFill>
                  <a:srgbClr val="FFB393"/>
                </a:solidFill>
                <a:latin typeface="Brygada 1918 Bold" pitchFamily="34" charset="0"/>
                <a:ea typeface="Brygada 1918 Bold" pitchFamily="34" charset="-122"/>
                <a:cs typeface="Brygada 1918 Bold" pitchFamily="34" charset="-120"/>
              </a:rPr>
              <a:t>Current State Analysis</a:t>
            </a:r>
            <a:endParaRPr lang="en-US" sz="1350" dirty="0"/>
          </a:p>
        </p:txBody>
      </p:sp>
      <p:sp>
        <p:nvSpPr>
          <p:cNvPr id="3" name="Text 1"/>
          <p:cNvSpPr/>
          <p:nvPr/>
        </p:nvSpPr>
        <p:spPr>
          <a:xfrm>
            <a:off x="699730" y="797719"/>
            <a:ext cx="3672959" cy="433149"/>
          </a:xfrm>
          <a:prstGeom prst="rect">
            <a:avLst/>
          </a:prstGeom>
          <a:noFill/>
          <a:ln/>
        </p:spPr>
        <p:txBody>
          <a:bodyPr wrap="none" lIns="0" tIns="0" rIns="0" bIns="0" rtlCol="0" anchor="t"/>
          <a:lstStyle/>
          <a:p>
            <a:pPr algn="l" indent="0" marL="0">
              <a:lnSpc>
                <a:spcPts val="3400"/>
              </a:lnSpc>
              <a:buNone/>
            </a:pPr>
            <a:r>
              <a:rPr lang="en-US" sz="2700" b="1" dirty="0">
                <a:solidFill>
                  <a:srgbClr val="FFB393"/>
                </a:solidFill>
                <a:latin typeface="Brygada 1918 Bold" pitchFamily="34" charset="0"/>
                <a:ea typeface="Brygada 1918 Bold" pitchFamily="34" charset="-122"/>
                <a:cs typeface="Brygada 1918 Bold" pitchFamily="34" charset="-120"/>
              </a:rPr>
              <a:t>The Business Problem</a:t>
            </a:r>
            <a:endParaRPr lang="en-US" sz="2700" dirty="0"/>
          </a:p>
        </p:txBody>
      </p:sp>
      <p:pic>
        <p:nvPicPr>
          <p:cNvPr id="4" name="Image 0" descr="preencoded.png">    </p:cNvPr>
          <p:cNvPicPr>
            <a:picLocks noChangeAspect="1"/>
          </p:cNvPicPr>
          <p:nvPr/>
        </p:nvPicPr>
        <p:blipFill>
          <a:blip r:embed="rId1"/>
          <a:stretch>
            <a:fillRect/>
          </a:stretch>
        </p:blipFill>
        <p:spPr>
          <a:xfrm>
            <a:off x="3402092" y="1349097"/>
            <a:ext cx="7826097" cy="4145161"/>
          </a:xfrm>
          <a:prstGeom prst="rect">
            <a:avLst/>
          </a:prstGeom>
        </p:spPr>
      </p:pic>
      <p:sp>
        <p:nvSpPr>
          <p:cNvPr id="5" name="Text 2"/>
          <p:cNvSpPr/>
          <p:nvPr/>
        </p:nvSpPr>
        <p:spPr>
          <a:xfrm>
            <a:off x="4348067" y="4311634"/>
            <a:ext cx="2072580" cy="515995"/>
          </a:xfrm>
          <a:prstGeom prst="rect">
            <a:avLst/>
          </a:prstGeom>
          <a:noFill/>
          <a:ln/>
        </p:spPr>
        <p:txBody>
          <a:bodyPr wrap="square" lIns="0" tIns="0" rIns="0" bIns="0" rtlCol="0" anchor="t"/>
          <a:lstStyle/>
          <a:p>
            <a:pPr algn="r" indent="0" marL="0">
              <a:lnSpc>
                <a:spcPts val="2000"/>
              </a:lnSpc>
              <a:buNone/>
            </a:pPr>
            <a:r>
              <a:rPr lang="en-US" sz="1600" b="1" dirty="0">
                <a:solidFill>
                  <a:srgbClr val="FFB393"/>
                </a:solidFill>
                <a:latin typeface="Brygada 1918 Bold" pitchFamily="34" charset="0"/>
                <a:ea typeface="Brygada 1918 Bold" pitchFamily="34" charset="-122"/>
                <a:cs typeface="Brygada 1918 Bold" pitchFamily="34" charset="-120"/>
              </a:rPr>
              <a:t>Disconnected Systems</a:t>
            </a:r>
            <a:endParaRPr lang="en-US" sz="1600" dirty="0"/>
          </a:p>
        </p:txBody>
      </p:sp>
      <p:sp>
        <p:nvSpPr>
          <p:cNvPr id="6" name="Text 3"/>
          <p:cNvSpPr/>
          <p:nvPr/>
        </p:nvSpPr>
        <p:spPr>
          <a:xfrm>
            <a:off x="4348067" y="4896428"/>
            <a:ext cx="2072580" cy="310941"/>
          </a:xfrm>
          <a:prstGeom prst="rect">
            <a:avLst/>
          </a:prstGeom>
          <a:noFill/>
          <a:ln/>
        </p:spPr>
        <p:txBody>
          <a:bodyPr wrap="square" lIns="0" tIns="0" rIns="0" bIns="0" rtlCol="0" anchor="t"/>
          <a:lstStyle/>
          <a:p>
            <a:pPr algn="r" indent="0" marL="0">
              <a:lnSpc>
                <a:spcPts val="1200"/>
              </a:lnSpc>
              <a:buNone/>
            </a:pPr>
            <a:r>
              <a:rPr lang="en-US" sz="1200" dirty="0">
                <a:solidFill>
                  <a:srgbClr val="F4CAB8"/>
                </a:solidFill>
                <a:latin typeface="Montserrat Medium" pitchFamily="34" charset="0"/>
                <a:ea typeface="Montserrat Medium" pitchFamily="34" charset="-122"/>
                <a:cs typeface="Montserrat Medium" pitchFamily="34" charset="-120"/>
              </a:rPr>
              <a:t>Separate tools and no unified data flow.</a:t>
            </a:r>
            <a:endParaRPr lang="en-US" sz="1200" dirty="0"/>
          </a:p>
        </p:txBody>
      </p:sp>
      <p:sp>
        <p:nvSpPr>
          <p:cNvPr id="7" name="Text 4"/>
          <p:cNvSpPr/>
          <p:nvPr/>
        </p:nvSpPr>
        <p:spPr>
          <a:xfrm>
            <a:off x="3591275" y="1635716"/>
            <a:ext cx="2072580" cy="515995"/>
          </a:xfrm>
          <a:prstGeom prst="rect">
            <a:avLst/>
          </a:prstGeom>
          <a:noFill/>
          <a:ln/>
        </p:spPr>
        <p:txBody>
          <a:bodyPr wrap="square" lIns="0" tIns="0" rIns="0" bIns="0" rtlCol="0" anchor="t"/>
          <a:lstStyle/>
          <a:p>
            <a:pPr algn="r" indent="0" marL="0">
              <a:lnSpc>
                <a:spcPts val="2000"/>
              </a:lnSpc>
              <a:buNone/>
            </a:pPr>
            <a:r>
              <a:rPr lang="en-US" sz="1600" b="1" dirty="0">
                <a:solidFill>
                  <a:srgbClr val="FFB393"/>
                </a:solidFill>
                <a:latin typeface="Brygada 1918 Bold" pitchFamily="34" charset="0"/>
                <a:ea typeface="Brygada 1918 Bold" pitchFamily="34" charset="-122"/>
                <a:cs typeface="Brygada 1918 Bold" pitchFamily="34" charset="-120"/>
              </a:rPr>
              <a:t>Operational Inefficiency</a:t>
            </a:r>
            <a:endParaRPr lang="en-US" sz="1600" dirty="0"/>
          </a:p>
        </p:txBody>
      </p:sp>
      <p:sp>
        <p:nvSpPr>
          <p:cNvPr id="8" name="Text 5"/>
          <p:cNvSpPr/>
          <p:nvPr/>
        </p:nvSpPr>
        <p:spPr>
          <a:xfrm>
            <a:off x="3591275" y="2220511"/>
            <a:ext cx="2072580" cy="310941"/>
          </a:xfrm>
          <a:prstGeom prst="rect">
            <a:avLst/>
          </a:prstGeom>
          <a:noFill/>
          <a:ln/>
        </p:spPr>
        <p:txBody>
          <a:bodyPr wrap="square" lIns="0" tIns="0" rIns="0" bIns="0" rtlCol="0" anchor="t"/>
          <a:lstStyle/>
          <a:p>
            <a:pPr algn="r" indent="0" marL="0">
              <a:lnSpc>
                <a:spcPts val="1200"/>
              </a:lnSpc>
              <a:buNone/>
            </a:pPr>
            <a:r>
              <a:rPr lang="en-US" sz="1200" dirty="0">
                <a:solidFill>
                  <a:srgbClr val="F4CAB8"/>
                </a:solidFill>
                <a:latin typeface="Montserrat Medium" pitchFamily="34" charset="0"/>
                <a:ea typeface="Montserrat Medium" pitchFamily="34" charset="-122"/>
                <a:cs typeface="Montserrat Medium" pitchFamily="34" charset="-120"/>
              </a:rPr>
              <a:t>Manual work and slow processes increase errors.</a:t>
            </a:r>
            <a:endParaRPr lang="en-US" sz="1200" dirty="0"/>
          </a:p>
        </p:txBody>
      </p:sp>
      <p:sp>
        <p:nvSpPr>
          <p:cNvPr id="9" name="Text 6"/>
          <p:cNvSpPr/>
          <p:nvPr/>
        </p:nvSpPr>
        <p:spPr>
          <a:xfrm>
            <a:off x="8235229" y="1635716"/>
            <a:ext cx="2072579" cy="515995"/>
          </a:xfrm>
          <a:prstGeom prst="rect">
            <a:avLst/>
          </a:prstGeom>
          <a:noFill/>
          <a:ln/>
        </p:spPr>
        <p:txBody>
          <a:bodyPr wrap="square" lIns="0" tIns="0" rIns="0" bIns="0" rtlCol="0" anchor="t"/>
          <a:lstStyle/>
          <a:p>
            <a:pPr algn="l" indent="0" marL="0">
              <a:lnSpc>
                <a:spcPts val="2000"/>
              </a:lnSpc>
              <a:buNone/>
            </a:pPr>
            <a:r>
              <a:rPr lang="en-US" sz="1600" b="1" dirty="0">
                <a:solidFill>
                  <a:srgbClr val="FFB393"/>
                </a:solidFill>
                <a:latin typeface="Brygada 1918 Bold" pitchFamily="34" charset="0"/>
                <a:ea typeface="Brygada 1918 Bold" pitchFamily="34" charset="-122"/>
                <a:cs typeface="Brygada 1918 Bold" pitchFamily="34" charset="-120"/>
              </a:rPr>
              <a:t>Poor Customer Experience</a:t>
            </a:r>
            <a:endParaRPr lang="en-US" sz="1600" dirty="0"/>
          </a:p>
        </p:txBody>
      </p:sp>
      <p:sp>
        <p:nvSpPr>
          <p:cNvPr id="10" name="Text 7"/>
          <p:cNvSpPr/>
          <p:nvPr/>
        </p:nvSpPr>
        <p:spPr>
          <a:xfrm>
            <a:off x="8235229" y="2220511"/>
            <a:ext cx="2072579" cy="310941"/>
          </a:xfrm>
          <a:prstGeom prst="rect">
            <a:avLst/>
          </a:prstGeom>
          <a:noFill/>
          <a:ln/>
        </p:spPr>
        <p:txBody>
          <a:bodyPr wrap="square" lIns="0" tIns="0" rIns="0" bIns="0" rtlCol="0" anchor="t"/>
          <a:lstStyle/>
          <a:p>
            <a:pPr algn="l" indent="0" marL="0">
              <a:lnSpc>
                <a:spcPts val="1200"/>
              </a:lnSpc>
              <a:buNone/>
            </a:pPr>
            <a:r>
              <a:rPr lang="en-US" sz="1200" dirty="0">
                <a:solidFill>
                  <a:srgbClr val="F4CAB8"/>
                </a:solidFill>
                <a:latin typeface="Montserrat Medium" pitchFamily="34" charset="0"/>
                <a:ea typeface="Montserrat Medium" pitchFamily="34" charset="-122"/>
                <a:cs typeface="Montserrat Medium" pitchFamily="34" charset="-120"/>
              </a:rPr>
              <a:t>Inconsistent service and delayed order handling.</a:t>
            </a:r>
            <a:endParaRPr lang="en-US" sz="1200" dirty="0"/>
          </a:p>
        </p:txBody>
      </p:sp>
      <p:sp>
        <p:nvSpPr>
          <p:cNvPr id="11" name="Text 8"/>
          <p:cNvSpPr/>
          <p:nvPr/>
        </p:nvSpPr>
        <p:spPr>
          <a:xfrm>
            <a:off x="8966221" y="4311768"/>
            <a:ext cx="2063980" cy="257997"/>
          </a:xfrm>
          <a:prstGeom prst="rect">
            <a:avLst/>
          </a:prstGeom>
          <a:noFill/>
          <a:ln/>
        </p:spPr>
        <p:txBody>
          <a:bodyPr wrap="none" lIns="0" tIns="0" rIns="0" bIns="0" rtlCol="0" anchor="t"/>
          <a:lstStyle/>
          <a:p>
            <a:pPr algn="l" indent="0" marL="0">
              <a:lnSpc>
                <a:spcPts val="2000"/>
              </a:lnSpc>
              <a:buNone/>
            </a:pPr>
            <a:r>
              <a:rPr lang="en-US" sz="1600" b="1" dirty="0">
                <a:solidFill>
                  <a:srgbClr val="FFB393"/>
                </a:solidFill>
                <a:latin typeface="Brygada 1918 Bold" pitchFamily="34" charset="0"/>
                <a:ea typeface="Brygada 1918 Bold" pitchFamily="34" charset="-122"/>
                <a:cs typeface="Brygada 1918 Bold" pitchFamily="34" charset="-120"/>
              </a:rPr>
              <a:t>Revenue Loss</a:t>
            </a:r>
            <a:endParaRPr lang="en-US" sz="1600" dirty="0"/>
          </a:p>
        </p:txBody>
      </p:sp>
      <p:sp>
        <p:nvSpPr>
          <p:cNvPr id="12" name="Text 9"/>
          <p:cNvSpPr/>
          <p:nvPr/>
        </p:nvSpPr>
        <p:spPr>
          <a:xfrm>
            <a:off x="8966221" y="4638565"/>
            <a:ext cx="2072580" cy="310941"/>
          </a:xfrm>
          <a:prstGeom prst="rect">
            <a:avLst/>
          </a:prstGeom>
          <a:noFill/>
          <a:ln/>
        </p:spPr>
        <p:txBody>
          <a:bodyPr wrap="square" lIns="0" tIns="0" rIns="0" bIns="0" rtlCol="0" anchor="t"/>
          <a:lstStyle/>
          <a:p>
            <a:pPr algn="l" indent="0" marL="0">
              <a:lnSpc>
                <a:spcPts val="1200"/>
              </a:lnSpc>
              <a:buNone/>
            </a:pPr>
            <a:r>
              <a:rPr lang="en-US" sz="1200" dirty="0">
                <a:solidFill>
                  <a:srgbClr val="F4CAB8"/>
                </a:solidFill>
                <a:latin typeface="Montserrat Medium" pitchFamily="34" charset="0"/>
                <a:ea typeface="Montserrat Medium" pitchFamily="34" charset="-122"/>
                <a:cs typeface="Montserrat Medium" pitchFamily="34" charset="-120"/>
              </a:rPr>
              <a:t>Declining sales and higher operational costs.</a:t>
            </a:r>
            <a:endParaRPr lang="en-US" sz="1200" dirty="0"/>
          </a:p>
        </p:txBody>
      </p:sp>
      <p:sp>
        <p:nvSpPr>
          <p:cNvPr id="13" name="Text 10"/>
          <p:cNvSpPr/>
          <p:nvPr/>
        </p:nvSpPr>
        <p:spPr>
          <a:xfrm>
            <a:off x="699730" y="5582960"/>
            <a:ext cx="13230939" cy="166926"/>
          </a:xfrm>
          <a:prstGeom prst="rect">
            <a:avLst/>
          </a:prstGeom>
          <a:noFill/>
          <a:ln/>
        </p:spPr>
        <p:txBody>
          <a:bodyPr wrap="none" lIns="0" tIns="0" rIns="0" bIns="0" rtlCol="0" anchor="t"/>
          <a:lstStyle/>
          <a:p>
            <a:pPr algn="l" indent="0" marL="0">
              <a:lnSpc>
                <a:spcPts val="1300"/>
              </a:lnSpc>
              <a:buNone/>
            </a:pPr>
            <a:r>
              <a:rPr lang="en-US" sz="1000" dirty="0">
                <a:solidFill>
                  <a:srgbClr val="F4CAB8"/>
                </a:solidFill>
                <a:latin typeface="Montserrat Medium" pitchFamily="34" charset="0"/>
                <a:ea typeface="Montserrat Medium" pitchFamily="34" charset="-122"/>
                <a:cs typeface="Montserrat Medium" pitchFamily="34" charset="-120"/>
              </a:rPr>
              <a:t>Restaurants were struggling with disconnected systems and manual processes, creating a cascade of operational challenges that impacted both efficiency and profitability.</a:t>
            </a:r>
            <a:endParaRPr lang="en-US" sz="1000" dirty="0"/>
          </a:p>
        </p:txBody>
      </p:sp>
      <p:sp>
        <p:nvSpPr>
          <p:cNvPr id="14" name="Shape 11"/>
          <p:cNvSpPr/>
          <p:nvPr/>
        </p:nvSpPr>
        <p:spPr>
          <a:xfrm>
            <a:off x="699730" y="5838587"/>
            <a:ext cx="6576060" cy="887849"/>
          </a:xfrm>
          <a:prstGeom prst="roundRect">
            <a:avLst>
              <a:gd name="adj" fmla="val 8239"/>
            </a:avLst>
          </a:prstGeom>
          <a:solidFill>
            <a:srgbClr val="5C2438"/>
          </a:solidFill>
          <a:ln w="15240">
            <a:solidFill>
              <a:srgbClr val="662E42"/>
            </a:solidFill>
            <a:prstDash val="solid"/>
          </a:ln>
        </p:spPr>
      </p:sp>
      <p:sp>
        <p:nvSpPr>
          <p:cNvPr id="15" name="Shape 12"/>
          <p:cNvSpPr/>
          <p:nvPr/>
        </p:nvSpPr>
        <p:spPr>
          <a:xfrm>
            <a:off x="684490" y="5838587"/>
            <a:ext cx="60960" cy="887849"/>
          </a:xfrm>
          <a:prstGeom prst="roundRect">
            <a:avLst>
              <a:gd name="adj" fmla="val 31977"/>
            </a:avLst>
          </a:prstGeom>
          <a:solidFill>
            <a:srgbClr val="FFB393"/>
          </a:solidFill>
          <a:ln/>
        </p:spPr>
      </p:sp>
      <p:sp>
        <p:nvSpPr>
          <p:cNvPr id="16" name="Text 13"/>
          <p:cNvSpPr/>
          <p:nvPr/>
        </p:nvSpPr>
        <p:spPr>
          <a:xfrm>
            <a:off x="890587" y="5983724"/>
            <a:ext cx="1903452" cy="216456"/>
          </a:xfrm>
          <a:prstGeom prst="rect">
            <a:avLst/>
          </a:prstGeom>
          <a:noFill/>
          <a:ln/>
        </p:spPr>
        <p:txBody>
          <a:bodyPr wrap="none" lIns="0" tIns="0" rIns="0" bIns="0" rtlCol="0" anchor="t"/>
          <a:lstStyle/>
          <a:p>
            <a:pPr algn="l" indent="0" marL="0">
              <a:lnSpc>
                <a:spcPts val="1700"/>
              </a:lnSpc>
              <a:buNone/>
            </a:pPr>
            <a:r>
              <a:rPr lang="en-US" sz="1350" b="1" dirty="0">
                <a:solidFill>
                  <a:srgbClr val="F4CAB8"/>
                </a:solidFill>
                <a:latin typeface="Brygada 1918 Bold" pitchFamily="34" charset="0"/>
                <a:ea typeface="Brygada 1918 Bold" pitchFamily="34" charset="-122"/>
                <a:cs typeface="Brygada 1918 Bold" pitchFamily="34" charset="-120"/>
              </a:rPr>
              <a:t>System Fragmentation</a:t>
            </a:r>
            <a:endParaRPr lang="en-US" sz="1350" dirty="0"/>
          </a:p>
        </p:txBody>
      </p:sp>
      <p:sp>
        <p:nvSpPr>
          <p:cNvPr id="17" name="Text 14"/>
          <p:cNvSpPr/>
          <p:nvPr/>
        </p:nvSpPr>
        <p:spPr>
          <a:xfrm>
            <a:off x="890587" y="6247448"/>
            <a:ext cx="6240066" cy="333851"/>
          </a:xfrm>
          <a:prstGeom prst="rect">
            <a:avLst/>
          </a:prstGeom>
          <a:noFill/>
          <a:ln/>
        </p:spPr>
        <p:txBody>
          <a:bodyPr wrap="square" lIns="0" tIns="0" rIns="0" bIns="0" rtlCol="0" anchor="t"/>
          <a:lstStyle/>
          <a:p>
            <a:pPr algn="l" indent="0" marL="0">
              <a:lnSpc>
                <a:spcPts val="1300"/>
              </a:lnSpc>
              <a:buNone/>
            </a:pPr>
            <a:r>
              <a:rPr lang="en-US" sz="1000" dirty="0">
                <a:solidFill>
                  <a:srgbClr val="F4CAB8"/>
                </a:solidFill>
                <a:latin typeface="Montserrat Medium" pitchFamily="34" charset="0"/>
                <a:ea typeface="Montserrat Medium" pitchFamily="34" charset="-122"/>
                <a:cs typeface="Montserrat Medium" pitchFamily="34" charset="-120"/>
              </a:rPr>
              <a:t>Multiple disconnected tools led to order inaccuracies, billing errors, and service delays across branches</a:t>
            </a:r>
            <a:endParaRPr lang="en-US" sz="1000" dirty="0"/>
          </a:p>
        </p:txBody>
      </p:sp>
      <p:sp>
        <p:nvSpPr>
          <p:cNvPr id="18" name="Shape 15"/>
          <p:cNvSpPr/>
          <p:nvPr/>
        </p:nvSpPr>
        <p:spPr>
          <a:xfrm>
            <a:off x="7354610" y="5838587"/>
            <a:ext cx="6576060" cy="887849"/>
          </a:xfrm>
          <a:prstGeom prst="roundRect">
            <a:avLst>
              <a:gd name="adj" fmla="val 8239"/>
            </a:avLst>
          </a:prstGeom>
          <a:solidFill>
            <a:srgbClr val="5C2438"/>
          </a:solidFill>
          <a:ln w="15240">
            <a:solidFill>
              <a:srgbClr val="662E42"/>
            </a:solidFill>
            <a:prstDash val="solid"/>
          </a:ln>
        </p:spPr>
      </p:sp>
      <p:sp>
        <p:nvSpPr>
          <p:cNvPr id="19" name="Shape 16"/>
          <p:cNvSpPr/>
          <p:nvPr/>
        </p:nvSpPr>
        <p:spPr>
          <a:xfrm>
            <a:off x="7339370" y="5838587"/>
            <a:ext cx="60960" cy="887849"/>
          </a:xfrm>
          <a:prstGeom prst="roundRect">
            <a:avLst>
              <a:gd name="adj" fmla="val 31977"/>
            </a:avLst>
          </a:prstGeom>
          <a:solidFill>
            <a:srgbClr val="FFB393"/>
          </a:solidFill>
          <a:ln/>
        </p:spPr>
      </p:sp>
      <p:sp>
        <p:nvSpPr>
          <p:cNvPr id="20" name="Text 17"/>
          <p:cNvSpPr/>
          <p:nvPr/>
        </p:nvSpPr>
        <p:spPr>
          <a:xfrm>
            <a:off x="7545467" y="5983724"/>
            <a:ext cx="1732717" cy="216456"/>
          </a:xfrm>
          <a:prstGeom prst="rect">
            <a:avLst/>
          </a:prstGeom>
          <a:noFill/>
          <a:ln/>
        </p:spPr>
        <p:txBody>
          <a:bodyPr wrap="none" lIns="0" tIns="0" rIns="0" bIns="0" rtlCol="0" anchor="t"/>
          <a:lstStyle/>
          <a:p>
            <a:pPr algn="l" indent="0" marL="0">
              <a:lnSpc>
                <a:spcPts val="1700"/>
              </a:lnSpc>
              <a:buNone/>
            </a:pPr>
            <a:r>
              <a:rPr lang="en-US" sz="1350" b="1" dirty="0">
                <a:solidFill>
                  <a:srgbClr val="F4CAB8"/>
                </a:solidFill>
                <a:latin typeface="Brygada 1918 Bold" pitchFamily="34" charset="0"/>
                <a:ea typeface="Brygada 1918 Bold" pitchFamily="34" charset="-122"/>
                <a:cs typeface="Brygada 1918 Bold" pitchFamily="34" charset="-120"/>
              </a:rPr>
              <a:t>Data Silos</a:t>
            </a:r>
            <a:endParaRPr lang="en-US" sz="1350" dirty="0"/>
          </a:p>
        </p:txBody>
      </p:sp>
      <p:sp>
        <p:nvSpPr>
          <p:cNvPr id="21" name="Text 18"/>
          <p:cNvSpPr/>
          <p:nvPr/>
        </p:nvSpPr>
        <p:spPr>
          <a:xfrm>
            <a:off x="7545467" y="6247448"/>
            <a:ext cx="6240066" cy="333851"/>
          </a:xfrm>
          <a:prstGeom prst="rect">
            <a:avLst/>
          </a:prstGeom>
          <a:noFill/>
          <a:ln/>
        </p:spPr>
        <p:txBody>
          <a:bodyPr wrap="square" lIns="0" tIns="0" rIns="0" bIns="0" rtlCol="0" anchor="t"/>
          <a:lstStyle/>
          <a:p>
            <a:pPr algn="l" indent="0" marL="0">
              <a:lnSpc>
                <a:spcPts val="1300"/>
              </a:lnSpc>
              <a:buNone/>
            </a:pPr>
            <a:r>
              <a:rPr lang="en-US" sz="1000" dirty="0">
                <a:solidFill>
                  <a:srgbClr val="F4CAB8"/>
                </a:solidFill>
                <a:latin typeface="Montserrat Medium" pitchFamily="34" charset="0"/>
                <a:ea typeface="Montserrat Medium" pitchFamily="34" charset="-122"/>
                <a:cs typeface="Montserrat Medium" pitchFamily="34" charset="-120"/>
              </a:rPr>
              <a:t>Lack of centralized customer data prevented effective loyalty management and repeat engagement strategies</a:t>
            </a:r>
            <a:endParaRPr lang="en-US" sz="1000" dirty="0"/>
          </a:p>
        </p:txBody>
      </p:sp>
      <p:sp>
        <p:nvSpPr>
          <p:cNvPr id="22" name="Shape 19"/>
          <p:cNvSpPr/>
          <p:nvPr/>
        </p:nvSpPr>
        <p:spPr>
          <a:xfrm>
            <a:off x="699730" y="6805255"/>
            <a:ext cx="6576060" cy="887849"/>
          </a:xfrm>
          <a:prstGeom prst="roundRect">
            <a:avLst>
              <a:gd name="adj" fmla="val 8239"/>
            </a:avLst>
          </a:prstGeom>
          <a:solidFill>
            <a:srgbClr val="5C2438"/>
          </a:solidFill>
          <a:ln w="15240">
            <a:solidFill>
              <a:srgbClr val="662E42"/>
            </a:solidFill>
            <a:prstDash val="solid"/>
          </a:ln>
        </p:spPr>
      </p:sp>
      <p:sp>
        <p:nvSpPr>
          <p:cNvPr id="23" name="Shape 20"/>
          <p:cNvSpPr/>
          <p:nvPr/>
        </p:nvSpPr>
        <p:spPr>
          <a:xfrm>
            <a:off x="684490" y="6805255"/>
            <a:ext cx="60960" cy="887849"/>
          </a:xfrm>
          <a:prstGeom prst="roundRect">
            <a:avLst>
              <a:gd name="adj" fmla="val 31977"/>
            </a:avLst>
          </a:prstGeom>
          <a:solidFill>
            <a:srgbClr val="FFB393"/>
          </a:solidFill>
          <a:ln/>
        </p:spPr>
      </p:sp>
      <p:sp>
        <p:nvSpPr>
          <p:cNvPr id="24" name="Text 21"/>
          <p:cNvSpPr/>
          <p:nvPr/>
        </p:nvSpPr>
        <p:spPr>
          <a:xfrm>
            <a:off x="890587" y="6950393"/>
            <a:ext cx="1732717" cy="216456"/>
          </a:xfrm>
          <a:prstGeom prst="rect">
            <a:avLst/>
          </a:prstGeom>
          <a:noFill/>
          <a:ln/>
        </p:spPr>
        <p:txBody>
          <a:bodyPr wrap="none" lIns="0" tIns="0" rIns="0" bIns="0" rtlCol="0" anchor="t"/>
          <a:lstStyle/>
          <a:p>
            <a:pPr algn="l" indent="0" marL="0">
              <a:lnSpc>
                <a:spcPts val="1700"/>
              </a:lnSpc>
              <a:buNone/>
            </a:pPr>
            <a:r>
              <a:rPr lang="en-US" sz="1350" b="1" dirty="0">
                <a:solidFill>
                  <a:srgbClr val="F4CAB8"/>
                </a:solidFill>
                <a:latin typeface="Brygada 1918 Bold" pitchFamily="34" charset="0"/>
                <a:ea typeface="Brygada 1918 Bold" pitchFamily="34" charset="-122"/>
                <a:cs typeface="Brygada 1918 Bold" pitchFamily="34" charset="-120"/>
              </a:rPr>
              <a:t>Limited Visibility</a:t>
            </a:r>
            <a:endParaRPr lang="en-US" sz="1350" dirty="0"/>
          </a:p>
        </p:txBody>
      </p:sp>
      <p:sp>
        <p:nvSpPr>
          <p:cNvPr id="25" name="Text 22"/>
          <p:cNvSpPr/>
          <p:nvPr/>
        </p:nvSpPr>
        <p:spPr>
          <a:xfrm>
            <a:off x="890587" y="7214116"/>
            <a:ext cx="6240066" cy="333851"/>
          </a:xfrm>
          <a:prstGeom prst="rect">
            <a:avLst/>
          </a:prstGeom>
          <a:noFill/>
          <a:ln/>
        </p:spPr>
        <p:txBody>
          <a:bodyPr wrap="square" lIns="0" tIns="0" rIns="0" bIns="0" rtlCol="0" anchor="t"/>
          <a:lstStyle/>
          <a:p>
            <a:pPr algn="l" indent="0" marL="0">
              <a:lnSpc>
                <a:spcPts val="1300"/>
              </a:lnSpc>
              <a:buNone/>
            </a:pPr>
            <a:r>
              <a:rPr lang="en-US" sz="1000" dirty="0">
                <a:solidFill>
                  <a:srgbClr val="F4CAB8"/>
                </a:solidFill>
                <a:latin typeface="Montserrat Medium" pitchFamily="34" charset="0"/>
                <a:ea typeface="Montserrat Medium" pitchFamily="34" charset="-122"/>
                <a:cs typeface="Montserrat Medium" pitchFamily="34" charset="-120"/>
              </a:rPr>
              <a:t>Manual reporting restricted insight into branch performance, sales trends, and operational efficiency metrics</a:t>
            </a:r>
            <a:endParaRPr lang="en-US" sz="1000" dirty="0"/>
          </a:p>
        </p:txBody>
      </p:sp>
      <p:sp>
        <p:nvSpPr>
          <p:cNvPr id="26" name="Shape 23"/>
          <p:cNvSpPr/>
          <p:nvPr/>
        </p:nvSpPr>
        <p:spPr>
          <a:xfrm>
            <a:off x="7354610" y="6805255"/>
            <a:ext cx="6576060" cy="887849"/>
          </a:xfrm>
          <a:prstGeom prst="roundRect">
            <a:avLst>
              <a:gd name="adj" fmla="val 8239"/>
            </a:avLst>
          </a:prstGeom>
          <a:solidFill>
            <a:srgbClr val="5C2438"/>
          </a:solidFill>
          <a:ln w="15240">
            <a:solidFill>
              <a:srgbClr val="662E42"/>
            </a:solidFill>
            <a:prstDash val="solid"/>
          </a:ln>
        </p:spPr>
      </p:sp>
      <p:sp>
        <p:nvSpPr>
          <p:cNvPr id="27" name="Shape 24"/>
          <p:cNvSpPr/>
          <p:nvPr/>
        </p:nvSpPr>
        <p:spPr>
          <a:xfrm>
            <a:off x="7339370" y="6805255"/>
            <a:ext cx="60960" cy="887849"/>
          </a:xfrm>
          <a:prstGeom prst="roundRect">
            <a:avLst>
              <a:gd name="adj" fmla="val 31977"/>
            </a:avLst>
          </a:prstGeom>
          <a:solidFill>
            <a:srgbClr val="FFB393"/>
          </a:solidFill>
          <a:ln/>
        </p:spPr>
      </p:sp>
      <p:sp>
        <p:nvSpPr>
          <p:cNvPr id="28" name="Text 25"/>
          <p:cNvSpPr/>
          <p:nvPr/>
        </p:nvSpPr>
        <p:spPr>
          <a:xfrm>
            <a:off x="7545467" y="6950393"/>
            <a:ext cx="2099310" cy="216456"/>
          </a:xfrm>
          <a:prstGeom prst="rect">
            <a:avLst/>
          </a:prstGeom>
          <a:noFill/>
          <a:ln/>
        </p:spPr>
        <p:txBody>
          <a:bodyPr wrap="none" lIns="0" tIns="0" rIns="0" bIns="0" rtlCol="0" anchor="t"/>
          <a:lstStyle/>
          <a:p>
            <a:pPr algn="l" indent="0" marL="0">
              <a:lnSpc>
                <a:spcPts val="1700"/>
              </a:lnSpc>
              <a:buNone/>
            </a:pPr>
            <a:r>
              <a:rPr lang="en-US" sz="1350" b="1" dirty="0">
                <a:solidFill>
                  <a:srgbClr val="F4CAB8"/>
                </a:solidFill>
                <a:latin typeface="Brygada 1918 Bold" pitchFamily="34" charset="0"/>
                <a:ea typeface="Brygada 1918 Bold" pitchFamily="34" charset="-122"/>
                <a:cs typeface="Brygada 1918 Bold" pitchFamily="34" charset="-120"/>
              </a:rPr>
              <a:t>Management Complexity</a:t>
            </a:r>
            <a:endParaRPr lang="en-US" sz="1350" dirty="0"/>
          </a:p>
        </p:txBody>
      </p:sp>
      <p:sp>
        <p:nvSpPr>
          <p:cNvPr id="29" name="Text 26"/>
          <p:cNvSpPr/>
          <p:nvPr/>
        </p:nvSpPr>
        <p:spPr>
          <a:xfrm>
            <a:off x="7545467" y="7214116"/>
            <a:ext cx="6240066" cy="333851"/>
          </a:xfrm>
          <a:prstGeom prst="rect">
            <a:avLst/>
          </a:prstGeom>
          <a:noFill/>
          <a:ln/>
        </p:spPr>
        <p:txBody>
          <a:bodyPr wrap="square" lIns="0" tIns="0" rIns="0" bIns="0" rtlCol="0" anchor="t"/>
          <a:lstStyle/>
          <a:p>
            <a:pPr algn="l" indent="0" marL="0">
              <a:lnSpc>
                <a:spcPts val="1300"/>
              </a:lnSpc>
              <a:buNone/>
            </a:pPr>
            <a:r>
              <a:rPr lang="en-US" sz="1000" dirty="0">
                <a:solidFill>
                  <a:srgbClr val="F4CAB8"/>
                </a:solidFill>
                <a:latin typeface="Montserrat Medium" pitchFamily="34" charset="0"/>
                <a:ea typeface="Montserrat Medium" pitchFamily="34" charset="-122"/>
                <a:cs typeface="Montserrat Medium" pitchFamily="34" charset="-120"/>
              </a:rPr>
              <a:t>Multi-branch coordination was time-consuming, lacked standardization, and hindered revenue growth</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49260" y="592098"/>
            <a:ext cx="7410926" cy="642342"/>
          </a:xfrm>
          <a:prstGeom prst="rect">
            <a:avLst/>
          </a:prstGeom>
          <a:noFill/>
          <a:ln/>
        </p:spPr>
        <p:txBody>
          <a:bodyPr wrap="none" lIns="0" tIns="0" rIns="0" bIns="0" rtlCol="0" anchor="t"/>
          <a:lstStyle/>
          <a:p>
            <a:pPr algn="l" indent="0" marL="0">
              <a:lnSpc>
                <a:spcPts val="5050"/>
              </a:lnSpc>
              <a:buNone/>
            </a:pPr>
            <a:r>
              <a:rPr lang="en-US" sz="4000" b="1" dirty="0">
                <a:solidFill>
                  <a:srgbClr val="FFB393"/>
                </a:solidFill>
                <a:latin typeface="Brygada 1918 Bold" pitchFamily="34" charset="0"/>
                <a:ea typeface="Brygada 1918 Bold" pitchFamily="34" charset="-122"/>
                <a:cs typeface="Brygada 1918 Bold" pitchFamily="34" charset="-120"/>
              </a:rPr>
              <a:t>Proposed Solution &amp; Outcome</a:t>
            </a:r>
            <a:endParaRPr lang="en-US" sz="4000" dirty="0"/>
          </a:p>
        </p:txBody>
      </p:sp>
      <p:sp>
        <p:nvSpPr>
          <p:cNvPr id="4" name="Text 1"/>
          <p:cNvSpPr/>
          <p:nvPr/>
        </p:nvSpPr>
        <p:spPr>
          <a:xfrm>
            <a:off x="749260" y="1494473"/>
            <a:ext cx="7645479" cy="878324"/>
          </a:xfrm>
          <a:prstGeom prst="rect">
            <a:avLst/>
          </a:prstGeom>
          <a:noFill/>
          <a:ln/>
        </p:spPr>
        <p:txBody>
          <a:bodyPr wrap="square" lIns="0" tIns="0" rIns="0" bIns="0" rtlCol="0" anchor="t"/>
          <a:lstStyle/>
          <a:p>
            <a:pPr algn="l" indent="0" marL="0">
              <a:lnSpc>
                <a:spcPts val="2300"/>
              </a:lnSpc>
              <a:buNone/>
            </a:pPr>
            <a:r>
              <a:rPr lang="en-US" sz="1500" dirty="0">
                <a:solidFill>
                  <a:srgbClr val="F4CAB8"/>
                </a:solidFill>
                <a:latin typeface="Montserrat Medium" pitchFamily="34" charset="0"/>
                <a:ea typeface="Montserrat Medium" pitchFamily="34" charset="-122"/>
                <a:cs typeface="Montserrat Medium" pitchFamily="34" charset="-120"/>
              </a:rPr>
              <a:t>We developed a centralized Restaurant Management System accessible via web and mobile applications, integrating all operational aspects into a single, powerful platform.</a:t>
            </a:r>
            <a:endParaRPr lang="en-US" sz="1500" dirty="0"/>
          </a:p>
        </p:txBody>
      </p:sp>
      <p:sp>
        <p:nvSpPr>
          <p:cNvPr id="5" name="Text 2"/>
          <p:cNvSpPr/>
          <p:nvPr/>
        </p:nvSpPr>
        <p:spPr>
          <a:xfrm>
            <a:off x="749260" y="2741176"/>
            <a:ext cx="2871311" cy="321112"/>
          </a:xfrm>
          <a:prstGeom prst="rect">
            <a:avLst/>
          </a:prstGeom>
          <a:noFill/>
          <a:ln/>
        </p:spPr>
        <p:txBody>
          <a:bodyPr wrap="none" lIns="0" tIns="0" rIns="0" bIns="0" rtlCol="0" anchor="t"/>
          <a:lstStyle/>
          <a:p>
            <a:pPr algn="l" indent="0" marL="0">
              <a:lnSpc>
                <a:spcPts val="2500"/>
              </a:lnSpc>
              <a:buNone/>
            </a:pPr>
            <a:r>
              <a:rPr lang="en-US" sz="2000" b="1" dirty="0">
                <a:solidFill>
                  <a:srgbClr val="FFB393"/>
                </a:solidFill>
                <a:latin typeface="Brygada 1918 Bold" pitchFamily="34" charset="0"/>
                <a:ea typeface="Brygada 1918 Bold" pitchFamily="34" charset="-122"/>
                <a:cs typeface="Brygada 1918 Bold" pitchFamily="34" charset="-120"/>
              </a:rPr>
              <a:t>Core Platform Features</a:t>
            </a:r>
            <a:endParaRPr lang="en-US" sz="2000" dirty="0"/>
          </a:p>
        </p:txBody>
      </p:sp>
      <p:sp>
        <p:nvSpPr>
          <p:cNvPr id="6" name="Text 3"/>
          <p:cNvSpPr/>
          <p:nvPr/>
        </p:nvSpPr>
        <p:spPr>
          <a:xfrm>
            <a:off x="749260" y="3235643"/>
            <a:ext cx="3587710" cy="3514725"/>
          </a:xfrm>
          <a:prstGeom prst="rect">
            <a:avLst/>
          </a:prstGeom>
          <a:noFill/>
          <a:ln/>
        </p:spPr>
        <p:txBody>
          <a:bodyPr wrap="square" lIns="0" tIns="0" rIns="0" bIns="0" rtlCol="0" anchor="t"/>
          <a:lstStyle/>
          <a:p>
            <a:pPr algn="l" marL="342900" indent="-342900">
              <a:lnSpc>
                <a:spcPts val="2300"/>
              </a:lnSpc>
              <a:buSzPct val="100000"/>
              <a:buChar char="•"/>
            </a:pPr>
            <a:r>
              <a:rPr lang="en-US" sz="1500" dirty="0">
                <a:solidFill>
                  <a:srgbClr val="F4CAB8"/>
                </a:solidFill>
                <a:latin typeface="Montserrat Medium" pitchFamily="34" charset="0"/>
                <a:ea typeface="Montserrat Medium" pitchFamily="34" charset="-122"/>
                <a:cs typeface="Montserrat Medium" pitchFamily="34" charset="-120"/>
              </a:rPr>
              <a:t>Unified dine-in, takeaway, and delivery processing with real-time tracking</a:t>
            </a:r>
            <a:endParaRPr lang="en-US" sz="1500" dirty="0"/>
          </a:p>
          <a:p>
            <a:pPr algn="l" marL="342900" indent="-342900">
              <a:lnSpc>
                <a:spcPts val="2300"/>
              </a:lnSpc>
              <a:buSzPct val="100000"/>
              <a:buChar char="•"/>
            </a:pPr>
            <a:r>
              <a:rPr lang="en-US" sz="1500" dirty="0">
                <a:solidFill>
                  <a:srgbClr val="F4CAB8"/>
                </a:solidFill>
                <a:latin typeface="Montserrat Medium" pitchFamily="34" charset="0"/>
                <a:ea typeface="Montserrat Medium" pitchFamily="34" charset="-122"/>
                <a:cs typeface="Montserrat Medium" pitchFamily="34" charset="-120"/>
              </a:rPr>
              <a:t>GST-compliant billing with third-party payment gateway integration</a:t>
            </a:r>
            <a:endParaRPr lang="en-US" sz="1500" dirty="0"/>
          </a:p>
          <a:p>
            <a:pPr algn="l" marL="342900" indent="-342900">
              <a:lnSpc>
                <a:spcPts val="2300"/>
              </a:lnSpc>
              <a:buSzPct val="100000"/>
              <a:buChar char="•"/>
            </a:pPr>
            <a:r>
              <a:rPr lang="en-US" sz="1500" dirty="0">
                <a:solidFill>
                  <a:srgbClr val="F4CAB8"/>
                </a:solidFill>
                <a:latin typeface="Montserrat Medium" pitchFamily="34" charset="0"/>
                <a:ea typeface="Montserrat Medium" pitchFamily="34" charset="-122"/>
                <a:cs typeface="Montserrat Medium" pitchFamily="34" charset="-120"/>
              </a:rPr>
              <a:t>CRM &amp; loyalty management with table reservations and waitlist</a:t>
            </a:r>
            <a:endParaRPr lang="en-US" sz="1500" dirty="0"/>
          </a:p>
          <a:p>
            <a:pPr algn="l" marL="342900" indent="-342900">
              <a:lnSpc>
                <a:spcPts val="2300"/>
              </a:lnSpc>
              <a:buSzPct val="100000"/>
              <a:buChar char="•"/>
            </a:pPr>
            <a:r>
              <a:rPr lang="en-US" sz="1500" dirty="0">
                <a:solidFill>
                  <a:srgbClr val="F4CAB8"/>
                </a:solidFill>
                <a:latin typeface="Montserrat Medium" pitchFamily="34" charset="0"/>
                <a:ea typeface="Montserrat Medium" pitchFamily="34" charset="-122"/>
                <a:cs typeface="Montserrat Medium" pitchFamily="34" charset="-120"/>
              </a:rPr>
              <a:t>Role-based access control with secure 2FA/MFA authentication</a:t>
            </a:r>
            <a:endParaRPr lang="en-US" sz="1500" dirty="0"/>
          </a:p>
          <a:p>
            <a:pPr algn="l" marL="342900" indent="-342900">
              <a:lnSpc>
                <a:spcPts val="2300"/>
              </a:lnSpc>
              <a:buSzPct val="100000"/>
              <a:buChar char="•"/>
            </a:pPr>
            <a:r>
              <a:rPr lang="en-US" sz="1500" dirty="0">
                <a:solidFill>
                  <a:srgbClr val="F4CAB8"/>
                </a:solidFill>
                <a:latin typeface="Montserrat Medium" pitchFamily="34" charset="0"/>
                <a:ea typeface="Montserrat Medium" pitchFamily="34" charset="-122"/>
                <a:cs typeface="Montserrat Medium" pitchFamily="34" charset="-120"/>
              </a:rPr>
              <a:t>Branch-wise dashboards with exportable reports and analytics</a:t>
            </a:r>
            <a:endParaRPr lang="en-US" sz="1500" dirty="0"/>
          </a:p>
        </p:txBody>
      </p:sp>
      <p:sp>
        <p:nvSpPr>
          <p:cNvPr id="7" name="Shape 4"/>
          <p:cNvSpPr/>
          <p:nvPr/>
        </p:nvSpPr>
        <p:spPr>
          <a:xfrm>
            <a:off x="4675942" y="2567821"/>
            <a:ext cx="3865126" cy="5069681"/>
          </a:xfrm>
          <a:prstGeom prst="roundRect">
            <a:avLst>
              <a:gd name="adj" fmla="val 748"/>
            </a:avLst>
          </a:prstGeom>
          <a:solidFill>
            <a:srgbClr val="FFB393"/>
          </a:solidFill>
          <a:ln/>
        </p:spPr>
      </p:sp>
      <p:sp>
        <p:nvSpPr>
          <p:cNvPr id="8" name="Text 5"/>
          <p:cNvSpPr/>
          <p:nvPr/>
        </p:nvSpPr>
        <p:spPr>
          <a:xfrm>
            <a:off x="4868585" y="2741176"/>
            <a:ext cx="2569131" cy="321112"/>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Brygada 1918 Bold" pitchFamily="34" charset="0"/>
                <a:ea typeface="Brygada 1918 Bold" pitchFamily="34" charset="-122"/>
                <a:cs typeface="Brygada 1918 Bold" pitchFamily="34" charset="-120"/>
              </a:rPr>
              <a:t>Business Impact</a:t>
            </a:r>
            <a:endParaRPr lang="en-US" sz="2000" dirty="0"/>
          </a:p>
        </p:txBody>
      </p:sp>
      <p:sp>
        <p:nvSpPr>
          <p:cNvPr id="9" name="Text 6"/>
          <p:cNvSpPr/>
          <p:nvPr/>
        </p:nvSpPr>
        <p:spPr>
          <a:xfrm>
            <a:off x="4868585" y="3235643"/>
            <a:ext cx="3479840" cy="4100512"/>
          </a:xfrm>
          <a:prstGeom prst="rect">
            <a:avLst/>
          </a:prstGeom>
          <a:noFill/>
          <a:ln/>
        </p:spPr>
        <p:txBody>
          <a:bodyPr wrap="square" lIns="0" tIns="0" rIns="0" bIns="0" rtlCol="0" anchor="t"/>
          <a:lstStyle/>
          <a:p>
            <a:pPr algn="l" marL="342900" indent="-342900">
              <a:lnSpc>
                <a:spcPts val="2300"/>
              </a:lnSpc>
              <a:buSzPct val="100000"/>
              <a:buChar char="•"/>
            </a:pPr>
            <a:r>
              <a:rPr lang="en-US" sz="1500" dirty="0">
                <a:solidFill>
                  <a:srgbClr val="000000"/>
                </a:solidFill>
                <a:latin typeface="Montserrat Medium" pitchFamily="34" charset="0"/>
                <a:ea typeface="Montserrat Medium" pitchFamily="34" charset="-122"/>
                <a:cs typeface="Montserrat Medium" pitchFamily="34" charset="-120"/>
              </a:rPr>
              <a:t>Streamlined operations with reduced errors and faster service delivery</a:t>
            </a:r>
            <a:endParaRPr lang="en-US" sz="1500" dirty="0"/>
          </a:p>
          <a:p>
            <a:pPr algn="l" marL="342900" indent="-342900">
              <a:lnSpc>
                <a:spcPts val="2300"/>
              </a:lnSpc>
              <a:buSzPct val="100000"/>
              <a:buChar char="•"/>
            </a:pPr>
            <a:r>
              <a:rPr lang="en-US" sz="1500" dirty="0">
                <a:solidFill>
                  <a:srgbClr val="000000"/>
                </a:solidFill>
                <a:latin typeface="Montserrat Medium" pitchFamily="34" charset="0"/>
                <a:ea typeface="Montserrat Medium" pitchFamily="34" charset="-122"/>
                <a:cs typeface="Montserrat Medium" pitchFamily="34" charset="-120"/>
              </a:rPr>
              <a:t>Enhanced customer satisfaction through real-time tracking and loyalty programs</a:t>
            </a:r>
            <a:endParaRPr lang="en-US" sz="1500" dirty="0"/>
          </a:p>
          <a:p>
            <a:pPr algn="l" marL="342900" indent="-342900">
              <a:lnSpc>
                <a:spcPts val="2300"/>
              </a:lnSpc>
              <a:buSzPct val="100000"/>
              <a:buChar char="•"/>
            </a:pPr>
            <a:r>
              <a:rPr lang="en-US" sz="1500" dirty="0">
                <a:solidFill>
                  <a:srgbClr val="000000"/>
                </a:solidFill>
                <a:latin typeface="Montserrat Medium" pitchFamily="34" charset="0"/>
                <a:ea typeface="Montserrat Medium" pitchFamily="34" charset="-122"/>
                <a:cs typeface="Montserrat Medium" pitchFamily="34" charset="-120"/>
              </a:rPr>
              <a:t>Improved decision-making with centralized performance insights</a:t>
            </a:r>
            <a:endParaRPr lang="en-US" sz="1500" dirty="0"/>
          </a:p>
          <a:p>
            <a:pPr algn="l" marL="342900" indent="-342900">
              <a:lnSpc>
                <a:spcPts val="2300"/>
              </a:lnSpc>
              <a:buSzPct val="100000"/>
              <a:buChar char="•"/>
            </a:pPr>
            <a:r>
              <a:rPr lang="en-US" sz="1500" dirty="0">
                <a:solidFill>
                  <a:srgbClr val="000000"/>
                </a:solidFill>
                <a:latin typeface="Montserrat Medium" pitchFamily="34" charset="0"/>
                <a:ea typeface="Montserrat Medium" pitchFamily="34" charset="-122"/>
                <a:cs typeface="Montserrat Medium" pitchFamily="34" charset="-120"/>
              </a:rPr>
              <a:t>Increased revenue visibility and operational efficiency</a:t>
            </a:r>
            <a:endParaRPr lang="en-US" sz="1500" dirty="0"/>
          </a:p>
          <a:p>
            <a:pPr algn="l" marL="342900" indent="-342900">
              <a:lnSpc>
                <a:spcPts val="2300"/>
              </a:lnSpc>
              <a:buSzPct val="100000"/>
              <a:buChar char="•"/>
            </a:pPr>
            <a:r>
              <a:rPr lang="en-US" sz="1500" dirty="0">
                <a:solidFill>
                  <a:srgbClr val="000000"/>
                </a:solidFill>
                <a:latin typeface="Montserrat Medium" pitchFamily="34" charset="0"/>
                <a:ea typeface="Montserrat Medium" pitchFamily="34" charset="-122"/>
                <a:cs typeface="Montserrat Medium" pitchFamily="34" charset="-120"/>
              </a:rPr>
              <a:t>Scalable, secure, and compliant solution supporting business growth</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54725" y="568285"/>
            <a:ext cx="5085636" cy="405408"/>
          </a:xfrm>
          <a:prstGeom prst="rect">
            <a:avLst/>
          </a:prstGeom>
          <a:noFill/>
          <a:ln/>
        </p:spPr>
        <p:txBody>
          <a:bodyPr wrap="none" lIns="0" tIns="0" rIns="0" bIns="0" rtlCol="0" anchor="t"/>
          <a:lstStyle/>
          <a:p>
            <a:pPr algn="l" indent="0" marL="0">
              <a:lnSpc>
                <a:spcPts val="3150"/>
              </a:lnSpc>
              <a:buNone/>
            </a:pPr>
            <a:r>
              <a:rPr lang="en-US" sz="2550" b="1" dirty="0">
                <a:solidFill>
                  <a:srgbClr val="FFB393"/>
                </a:solidFill>
                <a:latin typeface="Brygada 1918 Bold" pitchFamily="34" charset="0"/>
                <a:ea typeface="Brygada 1918 Bold" pitchFamily="34" charset="-122"/>
                <a:cs typeface="Brygada 1918 Bold" pitchFamily="34" charset="-120"/>
              </a:rPr>
              <a:t>Business Analyst Considerations</a:t>
            </a:r>
            <a:endParaRPr lang="en-US" sz="2550" dirty="0"/>
          </a:p>
        </p:txBody>
      </p:sp>
      <p:sp>
        <p:nvSpPr>
          <p:cNvPr id="3" name="Text 1"/>
          <p:cNvSpPr/>
          <p:nvPr/>
        </p:nvSpPr>
        <p:spPr>
          <a:xfrm>
            <a:off x="654725" y="1111806"/>
            <a:ext cx="13320951" cy="152400"/>
          </a:xfrm>
          <a:prstGeom prst="rect">
            <a:avLst/>
          </a:prstGeom>
          <a:noFill/>
          <a:ln/>
        </p:spPr>
        <p:txBody>
          <a:bodyPr wrap="none" lIns="0" tIns="0" rIns="0" bIns="0" rtlCol="0" anchor="t"/>
          <a:lstStyle/>
          <a:p>
            <a:pPr algn="l" indent="0" marL="0">
              <a:lnSpc>
                <a:spcPts val="1200"/>
              </a:lnSpc>
              <a:buNone/>
            </a:pPr>
            <a:r>
              <a:rPr lang="en-US" sz="950" dirty="0">
                <a:solidFill>
                  <a:srgbClr val="F4CAB8"/>
                </a:solidFill>
                <a:latin typeface="Montserrat Medium" pitchFamily="34" charset="0"/>
                <a:ea typeface="Montserrat Medium" pitchFamily="34" charset="-122"/>
                <a:cs typeface="Montserrat Medium" pitchFamily="34" charset="-120"/>
              </a:rPr>
              <a:t>Critical checkpoints and exceptions that Business Analysts must address throughout the project lifecycle to ensure successful delivery.</a:t>
            </a:r>
            <a:endParaRPr lang="en-US" sz="950" dirty="0"/>
          </a:p>
        </p:txBody>
      </p:sp>
      <p:sp>
        <p:nvSpPr>
          <p:cNvPr id="4" name="Shape 2"/>
          <p:cNvSpPr/>
          <p:nvPr/>
        </p:nvSpPr>
        <p:spPr>
          <a:xfrm>
            <a:off x="654725" y="1341834"/>
            <a:ext cx="13320951" cy="729496"/>
          </a:xfrm>
          <a:prstGeom prst="roundRect">
            <a:avLst>
              <a:gd name="adj" fmla="val 2500"/>
            </a:avLst>
          </a:prstGeom>
          <a:solidFill>
            <a:srgbClr val="5C2438"/>
          </a:solidFill>
          <a:ln w="15240">
            <a:solidFill>
              <a:srgbClr val="662E42"/>
            </a:solidFill>
            <a:prstDash val="solid"/>
          </a:ln>
        </p:spPr>
      </p:sp>
      <p:sp>
        <p:nvSpPr>
          <p:cNvPr id="5" name="Shape 3"/>
          <p:cNvSpPr/>
          <p:nvPr/>
        </p:nvSpPr>
        <p:spPr>
          <a:xfrm>
            <a:off x="669965" y="1357074"/>
            <a:ext cx="486370" cy="699016"/>
          </a:xfrm>
          <a:prstGeom prst="rect">
            <a:avLst/>
          </a:prstGeom>
          <a:solidFill>
            <a:srgbClr val="4D1529"/>
          </a:solidFill>
          <a:ln/>
        </p:spPr>
      </p:sp>
      <p:sp>
        <p:nvSpPr>
          <p:cNvPr id="6" name="Text 4"/>
          <p:cNvSpPr/>
          <p:nvPr/>
        </p:nvSpPr>
        <p:spPr>
          <a:xfrm>
            <a:off x="822008" y="1592580"/>
            <a:ext cx="182285" cy="227886"/>
          </a:xfrm>
          <a:prstGeom prst="rect">
            <a:avLst/>
          </a:prstGeom>
          <a:noFill/>
          <a:ln/>
        </p:spPr>
        <p:txBody>
          <a:bodyPr wrap="none" lIns="0" tIns="0" rIns="0" bIns="0" rtlCol="0" anchor="t"/>
          <a:lstStyle/>
          <a:p>
            <a:pPr algn="l" indent="0" marL="0">
              <a:lnSpc>
                <a:spcPts val="1400"/>
              </a:lnSpc>
              <a:buNone/>
            </a:pPr>
            <a:r>
              <a:rPr lang="en-US" sz="1400" b="1" dirty="0">
                <a:solidFill>
                  <a:srgbClr val="F4CAB8"/>
                </a:solidFill>
                <a:latin typeface="Brygada 1918 Bold" pitchFamily="34" charset="0"/>
                <a:ea typeface="Brygada 1918 Bold" pitchFamily="34" charset="-122"/>
                <a:cs typeface="Brygada 1918 Bold" pitchFamily="34" charset="-120"/>
              </a:rPr>
              <a:t>1</a:t>
            </a:r>
            <a:endParaRPr lang="en-US" sz="1400" dirty="0"/>
          </a:p>
        </p:txBody>
      </p:sp>
      <p:sp>
        <p:nvSpPr>
          <p:cNvPr id="7" name="Text 5"/>
          <p:cNvSpPr/>
          <p:nvPr/>
        </p:nvSpPr>
        <p:spPr>
          <a:xfrm>
            <a:off x="1225391" y="1478637"/>
            <a:ext cx="1621274" cy="202644"/>
          </a:xfrm>
          <a:prstGeom prst="rect">
            <a:avLst/>
          </a:prstGeom>
          <a:noFill/>
          <a:ln/>
        </p:spPr>
        <p:txBody>
          <a:bodyPr wrap="none" lIns="0" tIns="0" rIns="0" bIns="0" rtlCol="0" anchor="t"/>
          <a:lstStyle/>
          <a:p>
            <a:pPr algn="l" indent="0" marL="0">
              <a:lnSpc>
                <a:spcPts val="1550"/>
              </a:lnSpc>
              <a:buNone/>
            </a:pPr>
            <a:r>
              <a:rPr lang="en-US" sz="1250" b="1" dirty="0">
                <a:solidFill>
                  <a:srgbClr val="F4CAB8"/>
                </a:solidFill>
                <a:latin typeface="Brygada 1918 Bold" pitchFamily="34" charset="0"/>
                <a:ea typeface="Brygada 1918 Bold" pitchFamily="34" charset="-122"/>
                <a:cs typeface="Brygada 1918 Bold" pitchFamily="34" charset="-120"/>
              </a:rPr>
              <a:t>Requirement Clarity</a:t>
            </a:r>
            <a:endParaRPr lang="en-US" sz="1250" dirty="0"/>
          </a:p>
        </p:txBody>
      </p:sp>
      <p:sp>
        <p:nvSpPr>
          <p:cNvPr id="8" name="Text 6"/>
          <p:cNvSpPr/>
          <p:nvPr/>
        </p:nvSpPr>
        <p:spPr>
          <a:xfrm>
            <a:off x="1225391" y="1722715"/>
            <a:ext cx="12613481" cy="152400"/>
          </a:xfrm>
          <a:prstGeom prst="rect">
            <a:avLst/>
          </a:prstGeom>
          <a:noFill/>
          <a:ln/>
        </p:spPr>
        <p:txBody>
          <a:bodyPr wrap="none" lIns="0" tIns="0" rIns="0" bIns="0" rtlCol="0" anchor="t"/>
          <a:lstStyle/>
          <a:p>
            <a:pPr algn="l" indent="0" marL="0">
              <a:lnSpc>
                <a:spcPts val="1200"/>
              </a:lnSpc>
              <a:buNone/>
            </a:pPr>
            <a:r>
              <a:rPr lang="en-US" sz="950" dirty="0">
                <a:solidFill>
                  <a:srgbClr val="F4CAB8"/>
                </a:solidFill>
                <a:latin typeface="Montserrat Medium" pitchFamily="34" charset="0"/>
                <a:ea typeface="Montserrat Medium" pitchFamily="34" charset="-122"/>
                <a:cs typeface="Montserrat Medium" pitchFamily="34" charset="-120"/>
              </a:rPr>
              <a:t>Ensure all business requirements are clearly defined, validated, and signed off by stakeholders before development begins</a:t>
            </a:r>
            <a:endParaRPr lang="en-US" sz="950" dirty="0"/>
          </a:p>
        </p:txBody>
      </p:sp>
      <p:sp>
        <p:nvSpPr>
          <p:cNvPr id="9" name="Shape 7"/>
          <p:cNvSpPr/>
          <p:nvPr/>
        </p:nvSpPr>
        <p:spPr>
          <a:xfrm>
            <a:off x="654725" y="2140387"/>
            <a:ext cx="13320951" cy="729496"/>
          </a:xfrm>
          <a:prstGeom prst="roundRect">
            <a:avLst>
              <a:gd name="adj" fmla="val 2500"/>
            </a:avLst>
          </a:prstGeom>
          <a:solidFill>
            <a:srgbClr val="5C2438"/>
          </a:solidFill>
          <a:ln w="15240">
            <a:solidFill>
              <a:srgbClr val="662E42"/>
            </a:solidFill>
            <a:prstDash val="solid"/>
          </a:ln>
        </p:spPr>
      </p:sp>
      <p:sp>
        <p:nvSpPr>
          <p:cNvPr id="10" name="Shape 8"/>
          <p:cNvSpPr/>
          <p:nvPr/>
        </p:nvSpPr>
        <p:spPr>
          <a:xfrm>
            <a:off x="669965" y="2155627"/>
            <a:ext cx="486370" cy="699016"/>
          </a:xfrm>
          <a:prstGeom prst="rect">
            <a:avLst/>
          </a:prstGeom>
          <a:solidFill>
            <a:srgbClr val="4D1529"/>
          </a:solidFill>
          <a:ln/>
        </p:spPr>
      </p:sp>
      <p:sp>
        <p:nvSpPr>
          <p:cNvPr id="11" name="Text 9"/>
          <p:cNvSpPr/>
          <p:nvPr/>
        </p:nvSpPr>
        <p:spPr>
          <a:xfrm>
            <a:off x="822008" y="2391132"/>
            <a:ext cx="182285" cy="227886"/>
          </a:xfrm>
          <a:prstGeom prst="rect">
            <a:avLst/>
          </a:prstGeom>
          <a:noFill/>
          <a:ln/>
        </p:spPr>
        <p:txBody>
          <a:bodyPr wrap="none" lIns="0" tIns="0" rIns="0" bIns="0" rtlCol="0" anchor="t"/>
          <a:lstStyle/>
          <a:p>
            <a:pPr algn="l" indent="0" marL="0">
              <a:lnSpc>
                <a:spcPts val="1400"/>
              </a:lnSpc>
              <a:buNone/>
            </a:pPr>
            <a:r>
              <a:rPr lang="en-US" sz="1400" b="1" dirty="0">
                <a:solidFill>
                  <a:srgbClr val="F4CAB8"/>
                </a:solidFill>
                <a:latin typeface="Brygada 1918 Bold" pitchFamily="34" charset="0"/>
                <a:ea typeface="Brygada 1918 Bold" pitchFamily="34" charset="-122"/>
                <a:cs typeface="Brygada 1918 Bold" pitchFamily="34" charset="-120"/>
              </a:rPr>
              <a:t>2</a:t>
            </a:r>
            <a:endParaRPr lang="en-US" sz="1400" dirty="0"/>
          </a:p>
        </p:txBody>
      </p:sp>
      <p:sp>
        <p:nvSpPr>
          <p:cNvPr id="12" name="Text 10"/>
          <p:cNvSpPr/>
          <p:nvPr/>
        </p:nvSpPr>
        <p:spPr>
          <a:xfrm>
            <a:off x="1225391" y="2277189"/>
            <a:ext cx="1621274" cy="202644"/>
          </a:xfrm>
          <a:prstGeom prst="rect">
            <a:avLst/>
          </a:prstGeom>
          <a:noFill/>
          <a:ln/>
        </p:spPr>
        <p:txBody>
          <a:bodyPr wrap="none" lIns="0" tIns="0" rIns="0" bIns="0" rtlCol="0" anchor="t"/>
          <a:lstStyle/>
          <a:p>
            <a:pPr algn="l" indent="0" marL="0">
              <a:lnSpc>
                <a:spcPts val="1550"/>
              </a:lnSpc>
              <a:buNone/>
            </a:pPr>
            <a:r>
              <a:rPr lang="en-US" sz="1250" b="1" dirty="0">
                <a:solidFill>
                  <a:srgbClr val="F4CAB8"/>
                </a:solidFill>
                <a:latin typeface="Brygada 1918 Bold" pitchFamily="34" charset="0"/>
                <a:ea typeface="Brygada 1918 Bold" pitchFamily="34" charset="-122"/>
                <a:cs typeface="Brygada 1918 Bold" pitchFamily="34" charset="-120"/>
              </a:rPr>
              <a:t>Scope Control</a:t>
            </a:r>
            <a:endParaRPr lang="en-US" sz="1250" dirty="0"/>
          </a:p>
        </p:txBody>
      </p:sp>
      <p:sp>
        <p:nvSpPr>
          <p:cNvPr id="13" name="Text 11"/>
          <p:cNvSpPr/>
          <p:nvPr/>
        </p:nvSpPr>
        <p:spPr>
          <a:xfrm>
            <a:off x="1225391" y="2521268"/>
            <a:ext cx="12613481" cy="152400"/>
          </a:xfrm>
          <a:prstGeom prst="rect">
            <a:avLst/>
          </a:prstGeom>
          <a:noFill/>
          <a:ln/>
        </p:spPr>
        <p:txBody>
          <a:bodyPr wrap="none" lIns="0" tIns="0" rIns="0" bIns="0" rtlCol="0" anchor="t"/>
          <a:lstStyle/>
          <a:p>
            <a:pPr algn="l" indent="0" marL="0">
              <a:lnSpc>
                <a:spcPts val="1200"/>
              </a:lnSpc>
              <a:buNone/>
            </a:pPr>
            <a:r>
              <a:rPr lang="en-US" sz="950" dirty="0">
                <a:solidFill>
                  <a:srgbClr val="F4CAB8"/>
                </a:solidFill>
                <a:latin typeface="Montserrat Medium" pitchFamily="34" charset="0"/>
                <a:ea typeface="Montserrat Medium" pitchFamily="34" charset="-122"/>
                <a:cs typeface="Montserrat Medium" pitchFamily="34" charset="-120"/>
              </a:rPr>
              <a:t>Identify out-of-scope items early and manage scope creep through formal Change Request processes</a:t>
            </a:r>
            <a:endParaRPr lang="en-US" sz="950" dirty="0"/>
          </a:p>
        </p:txBody>
      </p:sp>
      <p:sp>
        <p:nvSpPr>
          <p:cNvPr id="14" name="Shape 12"/>
          <p:cNvSpPr/>
          <p:nvPr/>
        </p:nvSpPr>
        <p:spPr>
          <a:xfrm>
            <a:off x="654725" y="2938939"/>
            <a:ext cx="13320951" cy="729496"/>
          </a:xfrm>
          <a:prstGeom prst="roundRect">
            <a:avLst>
              <a:gd name="adj" fmla="val 2500"/>
            </a:avLst>
          </a:prstGeom>
          <a:solidFill>
            <a:srgbClr val="5C2438"/>
          </a:solidFill>
          <a:ln w="15240">
            <a:solidFill>
              <a:srgbClr val="662E42"/>
            </a:solidFill>
            <a:prstDash val="solid"/>
          </a:ln>
        </p:spPr>
      </p:sp>
      <p:sp>
        <p:nvSpPr>
          <p:cNvPr id="15" name="Shape 13"/>
          <p:cNvSpPr/>
          <p:nvPr/>
        </p:nvSpPr>
        <p:spPr>
          <a:xfrm>
            <a:off x="669965" y="2954179"/>
            <a:ext cx="486370" cy="699016"/>
          </a:xfrm>
          <a:prstGeom prst="rect">
            <a:avLst/>
          </a:prstGeom>
          <a:solidFill>
            <a:srgbClr val="4D1529"/>
          </a:solidFill>
          <a:ln/>
        </p:spPr>
      </p:sp>
      <p:sp>
        <p:nvSpPr>
          <p:cNvPr id="16" name="Text 14"/>
          <p:cNvSpPr/>
          <p:nvPr/>
        </p:nvSpPr>
        <p:spPr>
          <a:xfrm>
            <a:off x="822008" y="3189684"/>
            <a:ext cx="182285" cy="227886"/>
          </a:xfrm>
          <a:prstGeom prst="rect">
            <a:avLst/>
          </a:prstGeom>
          <a:noFill/>
          <a:ln/>
        </p:spPr>
        <p:txBody>
          <a:bodyPr wrap="none" lIns="0" tIns="0" rIns="0" bIns="0" rtlCol="0" anchor="t"/>
          <a:lstStyle/>
          <a:p>
            <a:pPr algn="l" indent="0" marL="0">
              <a:lnSpc>
                <a:spcPts val="1400"/>
              </a:lnSpc>
              <a:buNone/>
            </a:pPr>
            <a:r>
              <a:rPr lang="en-US" sz="1400" b="1" dirty="0">
                <a:solidFill>
                  <a:srgbClr val="F4CAB8"/>
                </a:solidFill>
                <a:latin typeface="Brygada 1918 Bold" pitchFamily="34" charset="0"/>
                <a:ea typeface="Brygada 1918 Bold" pitchFamily="34" charset="-122"/>
                <a:cs typeface="Brygada 1918 Bold" pitchFamily="34" charset="-120"/>
              </a:rPr>
              <a:t>3</a:t>
            </a:r>
            <a:endParaRPr lang="en-US" sz="1400" dirty="0"/>
          </a:p>
        </p:txBody>
      </p:sp>
      <p:sp>
        <p:nvSpPr>
          <p:cNvPr id="17" name="Text 15"/>
          <p:cNvSpPr/>
          <p:nvPr/>
        </p:nvSpPr>
        <p:spPr>
          <a:xfrm>
            <a:off x="1225391" y="3075742"/>
            <a:ext cx="1829872" cy="202644"/>
          </a:xfrm>
          <a:prstGeom prst="rect">
            <a:avLst/>
          </a:prstGeom>
          <a:noFill/>
          <a:ln/>
        </p:spPr>
        <p:txBody>
          <a:bodyPr wrap="none" lIns="0" tIns="0" rIns="0" bIns="0" rtlCol="0" anchor="t"/>
          <a:lstStyle/>
          <a:p>
            <a:pPr algn="l" indent="0" marL="0">
              <a:lnSpc>
                <a:spcPts val="1550"/>
              </a:lnSpc>
              <a:buNone/>
            </a:pPr>
            <a:r>
              <a:rPr lang="en-US" sz="1250" b="1" dirty="0">
                <a:solidFill>
                  <a:srgbClr val="F4CAB8"/>
                </a:solidFill>
                <a:latin typeface="Brygada 1918 Bold" pitchFamily="34" charset="0"/>
                <a:ea typeface="Brygada 1918 Bold" pitchFamily="34" charset="-122"/>
                <a:cs typeface="Brygada 1918 Bold" pitchFamily="34" charset="-120"/>
              </a:rPr>
              <a:t>Stakeholder Alignment</a:t>
            </a:r>
            <a:endParaRPr lang="en-US" sz="1250" dirty="0"/>
          </a:p>
        </p:txBody>
      </p:sp>
      <p:sp>
        <p:nvSpPr>
          <p:cNvPr id="18" name="Text 16"/>
          <p:cNvSpPr/>
          <p:nvPr/>
        </p:nvSpPr>
        <p:spPr>
          <a:xfrm>
            <a:off x="1225391" y="3319820"/>
            <a:ext cx="12613481" cy="152400"/>
          </a:xfrm>
          <a:prstGeom prst="rect">
            <a:avLst/>
          </a:prstGeom>
          <a:noFill/>
          <a:ln/>
        </p:spPr>
        <p:txBody>
          <a:bodyPr wrap="none" lIns="0" tIns="0" rIns="0" bIns="0" rtlCol="0" anchor="t"/>
          <a:lstStyle/>
          <a:p>
            <a:pPr algn="l" indent="0" marL="0">
              <a:lnSpc>
                <a:spcPts val="1200"/>
              </a:lnSpc>
              <a:buNone/>
            </a:pPr>
            <a:r>
              <a:rPr lang="en-US" sz="950" dirty="0">
                <a:solidFill>
                  <a:srgbClr val="F4CAB8"/>
                </a:solidFill>
                <a:latin typeface="Montserrat Medium" pitchFamily="34" charset="0"/>
                <a:ea typeface="Montserrat Medium" pitchFamily="34" charset="-122"/>
                <a:cs typeface="Montserrat Medium" pitchFamily="34" charset="-120"/>
              </a:rPr>
              <a:t>Confirm alignment between restaurant owners, branch managers, finance, and technical teams before implementation</a:t>
            </a:r>
            <a:endParaRPr lang="en-US" sz="950" dirty="0"/>
          </a:p>
        </p:txBody>
      </p:sp>
      <p:sp>
        <p:nvSpPr>
          <p:cNvPr id="19" name="Shape 17"/>
          <p:cNvSpPr/>
          <p:nvPr/>
        </p:nvSpPr>
        <p:spPr>
          <a:xfrm>
            <a:off x="654725" y="3737491"/>
            <a:ext cx="13320951" cy="729496"/>
          </a:xfrm>
          <a:prstGeom prst="roundRect">
            <a:avLst>
              <a:gd name="adj" fmla="val 2500"/>
            </a:avLst>
          </a:prstGeom>
          <a:solidFill>
            <a:srgbClr val="5C2438"/>
          </a:solidFill>
          <a:ln w="15240">
            <a:solidFill>
              <a:srgbClr val="662E42"/>
            </a:solidFill>
            <a:prstDash val="solid"/>
          </a:ln>
        </p:spPr>
      </p:sp>
      <p:sp>
        <p:nvSpPr>
          <p:cNvPr id="20" name="Shape 18"/>
          <p:cNvSpPr/>
          <p:nvPr/>
        </p:nvSpPr>
        <p:spPr>
          <a:xfrm>
            <a:off x="669965" y="3752731"/>
            <a:ext cx="486370" cy="699016"/>
          </a:xfrm>
          <a:prstGeom prst="rect">
            <a:avLst/>
          </a:prstGeom>
          <a:solidFill>
            <a:srgbClr val="4D1529"/>
          </a:solidFill>
          <a:ln/>
        </p:spPr>
      </p:sp>
      <p:sp>
        <p:nvSpPr>
          <p:cNvPr id="21" name="Text 19"/>
          <p:cNvSpPr/>
          <p:nvPr/>
        </p:nvSpPr>
        <p:spPr>
          <a:xfrm>
            <a:off x="822008" y="3988237"/>
            <a:ext cx="182285" cy="227886"/>
          </a:xfrm>
          <a:prstGeom prst="rect">
            <a:avLst/>
          </a:prstGeom>
          <a:noFill/>
          <a:ln/>
        </p:spPr>
        <p:txBody>
          <a:bodyPr wrap="none" lIns="0" tIns="0" rIns="0" bIns="0" rtlCol="0" anchor="t"/>
          <a:lstStyle/>
          <a:p>
            <a:pPr algn="l" indent="0" marL="0">
              <a:lnSpc>
                <a:spcPts val="1400"/>
              </a:lnSpc>
              <a:buNone/>
            </a:pPr>
            <a:r>
              <a:rPr lang="en-US" sz="1400" b="1" dirty="0">
                <a:solidFill>
                  <a:srgbClr val="F4CAB8"/>
                </a:solidFill>
                <a:latin typeface="Brygada 1918 Bold" pitchFamily="34" charset="0"/>
                <a:ea typeface="Brygada 1918 Bold" pitchFamily="34" charset="-122"/>
                <a:cs typeface="Brygada 1918 Bold" pitchFamily="34" charset="-120"/>
              </a:rPr>
              <a:t>4</a:t>
            </a:r>
            <a:endParaRPr lang="en-US" sz="1400" dirty="0"/>
          </a:p>
        </p:txBody>
      </p:sp>
      <p:sp>
        <p:nvSpPr>
          <p:cNvPr id="22" name="Text 20"/>
          <p:cNvSpPr/>
          <p:nvPr/>
        </p:nvSpPr>
        <p:spPr>
          <a:xfrm>
            <a:off x="1225391" y="3874294"/>
            <a:ext cx="1621274" cy="202644"/>
          </a:xfrm>
          <a:prstGeom prst="rect">
            <a:avLst/>
          </a:prstGeom>
          <a:noFill/>
          <a:ln/>
        </p:spPr>
        <p:txBody>
          <a:bodyPr wrap="none" lIns="0" tIns="0" rIns="0" bIns="0" rtlCol="0" anchor="t"/>
          <a:lstStyle/>
          <a:p>
            <a:pPr algn="l" indent="0" marL="0">
              <a:lnSpc>
                <a:spcPts val="1550"/>
              </a:lnSpc>
              <a:buNone/>
            </a:pPr>
            <a:r>
              <a:rPr lang="en-US" sz="1250" b="1" dirty="0">
                <a:solidFill>
                  <a:srgbClr val="F4CAB8"/>
                </a:solidFill>
                <a:latin typeface="Brygada 1918 Bold" pitchFamily="34" charset="0"/>
                <a:ea typeface="Brygada 1918 Bold" pitchFamily="34" charset="-122"/>
                <a:cs typeface="Brygada 1918 Bold" pitchFamily="34" charset="-120"/>
              </a:rPr>
              <a:t>Technical Feasibility</a:t>
            </a:r>
            <a:endParaRPr lang="en-US" sz="1250" dirty="0"/>
          </a:p>
        </p:txBody>
      </p:sp>
      <p:sp>
        <p:nvSpPr>
          <p:cNvPr id="23" name="Text 21"/>
          <p:cNvSpPr/>
          <p:nvPr/>
        </p:nvSpPr>
        <p:spPr>
          <a:xfrm>
            <a:off x="1225391" y="4118372"/>
            <a:ext cx="12613481" cy="152400"/>
          </a:xfrm>
          <a:prstGeom prst="rect">
            <a:avLst/>
          </a:prstGeom>
          <a:noFill/>
          <a:ln/>
        </p:spPr>
        <p:txBody>
          <a:bodyPr wrap="none" lIns="0" tIns="0" rIns="0" bIns="0" rtlCol="0" anchor="t"/>
          <a:lstStyle/>
          <a:p>
            <a:pPr algn="l" indent="0" marL="0">
              <a:lnSpc>
                <a:spcPts val="1200"/>
              </a:lnSpc>
              <a:buNone/>
            </a:pPr>
            <a:r>
              <a:rPr lang="en-US" sz="950" dirty="0">
                <a:solidFill>
                  <a:srgbClr val="F4CAB8"/>
                </a:solidFill>
                <a:latin typeface="Montserrat Medium" pitchFamily="34" charset="0"/>
                <a:ea typeface="Montserrat Medium" pitchFamily="34" charset="-122"/>
                <a:cs typeface="Montserrat Medium" pitchFamily="34" charset="-120"/>
              </a:rPr>
              <a:t>Validate integration feasibility with payment gateways, GST systems, and third-party delivery platforms</a:t>
            </a:r>
            <a:endParaRPr lang="en-US" sz="950" dirty="0"/>
          </a:p>
        </p:txBody>
      </p:sp>
      <p:sp>
        <p:nvSpPr>
          <p:cNvPr id="24" name="Shape 22"/>
          <p:cNvSpPr/>
          <p:nvPr/>
        </p:nvSpPr>
        <p:spPr>
          <a:xfrm>
            <a:off x="654725" y="4536043"/>
            <a:ext cx="13320951" cy="729496"/>
          </a:xfrm>
          <a:prstGeom prst="roundRect">
            <a:avLst>
              <a:gd name="adj" fmla="val 2500"/>
            </a:avLst>
          </a:prstGeom>
          <a:solidFill>
            <a:srgbClr val="5C2438"/>
          </a:solidFill>
          <a:ln w="15240">
            <a:solidFill>
              <a:srgbClr val="662E42"/>
            </a:solidFill>
            <a:prstDash val="solid"/>
          </a:ln>
        </p:spPr>
      </p:sp>
      <p:sp>
        <p:nvSpPr>
          <p:cNvPr id="25" name="Shape 23"/>
          <p:cNvSpPr/>
          <p:nvPr/>
        </p:nvSpPr>
        <p:spPr>
          <a:xfrm>
            <a:off x="669965" y="4551283"/>
            <a:ext cx="486370" cy="699016"/>
          </a:xfrm>
          <a:prstGeom prst="rect">
            <a:avLst/>
          </a:prstGeom>
          <a:solidFill>
            <a:srgbClr val="4D1529"/>
          </a:solidFill>
          <a:ln/>
        </p:spPr>
      </p:sp>
      <p:sp>
        <p:nvSpPr>
          <p:cNvPr id="26" name="Text 24"/>
          <p:cNvSpPr/>
          <p:nvPr/>
        </p:nvSpPr>
        <p:spPr>
          <a:xfrm>
            <a:off x="822008" y="4786789"/>
            <a:ext cx="182285" cy="227886"/>
          </a:xfrm>
          <a:prstGeom prst="rect">
            <a:avLst/>
          </a:prstGeom>
          <a:noFill/>
          <a:ln/>
        </p:spPr>
        <p:txBody>
          <a:bodyPr wrap="none" lIns="0" tIns="0" rIns="0" bIns="0" rtlCol="0" anchor="t"/>
          <a:lstStyle/>
          <a:p>
            <a:pPr algn="l" indent="0" marL="0">
              <a:lnSpc>
                <a:spcPts val="1400"/>
              </a:lnSpc>
              <a:buNone/>
            </a:pPr>
            <a:r>
              <a:rPr lang="en-US" sz="1400" b="1" dirty="0">
                <a:solidFill>
                  <a:srgbClr val="F4CAB8"/>
                </a:solidFill>
                <a:latin typeface="Brygada 1918 Bold" pitchFamily="34" charset="0"/>
                <a:ea typeface="Brygada 1918 Bold" pitchFamily="34" charset="-122"/>
                <a:cs typeface="Brygada 1918 Bold" pitchFamily="34" charset="-120"/>
              </a:rPr>
              <a:t>5</a:t>
            </a:r>
            <a:endParaRPr lang="en-US" sz="1400" dirty="0"/>
          </a:p>
        </p:txBody>
      </p:sp>
      <p:sp>
        <p:nvSpPr>
          <p:cNvPr id="27" name="Text 25"/>
          <p:cNvSpPr/>
          <p:nvPr/>
        </p:nvSpPr>
        <p:spPr>
          <a:xfrm>
            <a:off x="1225391" y="4672846"/>
            <a:ext cx="1784033" cy="202644"/>
          </a:xfrm>
          <a:prstGeom prst="rect">
            <a:avLst/>
          </a:prstGeom>
          <a:noFill/>
          <a:ln/>
        </p:spPr>
        <p:txBody>
          <a:bodyPr wrap="none" lIns="0" tIns="0" rIns="0" bIns="0" rtlCol="0" anchor="t"/>
          <a:lstStyle/>
          <a:p>
            <a:pPr algn="l" indent="0" marL="0">
              <a:lnSpc>
                <a:spcPts val="1550"/>
              </a:lnSpc>
              <a:buNone/>
            </a:pPr>
            <a:r>
              <a:rPr lang="en-US" sz="1250" b="1" dirty="0">
                <a:solidFill>
                  <a:srgbClr val="F4CAB8"/>
                </a:solidFill>
                <a:latin typeface="Brygada 1918 Bold" pitchFamily="34" charset="0"/>
                <a:ea typeface="Brygada 1918 Bold" pitchFamily="34" charset="-122"/>
                <a:cs typeface="Brygada 1918 Bold" pitchFamily="34" charset="-120"/>
              </a:rPr>
              <a:t>Compliance &amp; Security</a:t>
            </a:r>
            <a:endParaRPr lang="en-US" sz="1250" dirty="0"/>
          </a:p>
        </p:txBody>
      </p:sp>
      <p:sp>
        <p:nvSpPr>
          <p:cNvPr id="28" name="Text 26"/>
          <p:cNvSpPr/>
          <p:nvPr/>
        </p:nvSpPr>
        <p:spPr>
          <a:xfrm>
            <a:off x="1225391" y="4916924"/>
            <a:ext cx="12613481" cy="152400"/>
          </a:xfrm>
          <a:prstGeom prst="rect">
            <a:avLst/>
          </a:prstGeom>
          <a:noFill/>
          <a:ln/>
        </p:spPr>
        <p:txBody>
          <a:bodyPr wrap="none" lIns="0" tIns="0" rIns="0" bIns="0" rtlCol="0" anchor="t"/>
          <a:lstStyle/>
          <a:p>
            <a:pPr algn="l" indent="0" marL="0">
              <a:lnSpc>
                <a:spcPts val="1200"/>
              </a:lnSpc>
              <a:buNone/>
            </a:pPr>
            <a:r>
              <a:rPr lang="en-US" sz="950" dirty="0">
                <a:solidFill>
                  <a:srgbClr val="F4CAB8"/>
                </a:solidFill>
                <a:latin typeface="Montserrat Medium" pitchFamily="34" charset="0"/>
                <a:ea typeface="Montserrat Medium" pitchFamily="34" charset="-122"/>
                <a:cs typeface="Montserrat Medium" pitchFamily="34" charset="-120"/>
              </a:rPr>
              <a:t>Ensure GST compliance, data privacy (GDPR), and secure authentication (2FA/MFA) requirements are documented and approved</a:t>
            </a:r>
            <a:endParaRPr lang="en-US" sz="950" dirty="0"/>
          </a:p>
        </p:txBody>
      </p:sp>
      <p:sp>
        <p:nvSpPr>
          <p:cNvPr id="29" name="Shape 27"/>
          <p:cNvSpPr/>
          <p:nvPr/>
        </p:nvSpPr>
        <p:spPr>
          <a:xfrm>
            <a:off x="654725" y="5334595"/>
            <a:ext cx="13320951" cy="729496"/>
          </a:xfrm>
          <a:prstGeom prst="roundRect">
            <a:avLst>
              <a:gd name="adj" fmla="val 2500"/>
            </a:avLst>
          </a:prstGeom>
          <a:solidFill>
            <a:srgbClr val="5C2438"/>
          </a:solidFill>
          <a:ln w="15240">
            <a:solidFill>
              <a:srgbClr val="662E42"/>
            </a:solidFill>
            <a:prstDash val="solid"/>
          </a:ln>
        </p:spPr>
      </p:sp>
      <p:sp>
        <p:nvSpPr>
          <p:cNvPr id="30" name="Shape 28"/>
          <p:cNvSpPr/>
          <p:nvPr/>
        </p:nvSpPr>
        <p:spPr>
          <a:xfrm>
            <a:off x="669965" y="5349835"/>
            <a:ext cx="486370" cy="699016"/>
          </a:xfrm>
          <a:prstGeom prst="rect">
            <a:avLst/>
          </a:prstGeom>
          <a:solidFill>
            <a:srgbClr val="4D1529"/>
          </a:solidFill>
          <a:ln/>
        </p:spPr>
      </p:sp>
      <p:sp>
        <p:nvSpPr>
          <p:cNvPr id="31" name="Text 29"/>
          <p:cNvSpPr/>
          <p:nvPr/>
        </p:nvSpPr>
        <p:spPr>
          <a:xfrm>
            <a:off x="822008" y="5585341"/>
            <a:ext cx="182285" cy="227886"/>
          </a:xfrm>
          <a:prstGeom prst="rect">
            <a:avLst/>
          </a:prstGeom>
          <a:noFill/>
          <a:ln/>
        </p:spPr>
        <p:txBody>
          <a:bodyPr wrap="none" lIns="0" tIns="0" rIns="0" bIns="0" rtlCol="0" anchor="t"/>
          <a:lstStyle/>
          <a:p>
            <a:pPr algn="l" indent="0" marL="0">
              <a:lnSpc>
                <a:spcPts val="1400"/>
              </a:lnSpc>
              <a:buNone/>
            </a:pPr>
            <a:r>
              <a:rPr lang="en-US" sz="1400" b="1" dirty="0">
                <a:solidFill>
                  <a:srgbClr val="F4CAB8"/>
                </a:solidFill>
                <a:latin typeface="Brygada 1918 Bold" pitchFamily="34" charset="0"/>
                <a:ea typeface="Brygada 1918 Bold" pitchFamily="34" charset="-122"/>
                <a:cs typeface="Brygada 1918 Bold" pitchFamily="34" charset="-120"/>
              </a:rPr>
              <a:t>6</a:t>
            </a:r>
            <a:endParaRPr lang="en-US" sz="1400" dirty="0"/>
          </a:p>
        </p:txBody>
      </p:sp>
      <p:sp>
        <p:nvSpPr>
          <p:cNvPr id="32" name="Text 30"/>
          <p:cNvSpPr/>
          <p:nvPr/>
        </p:nvSpPr>
        <p:spPr>
          <a:xfrm>
            <a:off x="1225391" y="5471398"/>
            <a:ext cx="1621274" cy="202644"/>
          </a:xfrm>
          <a:prstGeom prst="rect">
            <a:avLst/>
          </a:prstGeom>
          <a:noFill/>
          <a:ln/>
        </p:spPr>
        <p:txBody>
          <a:bodyPr wrap="none" lIns="0" tIns="0" rIns="0" bIns="0" rtlCol="0" anchor="t"/>
          <a:lstStyle/>
          <a:p>
            <a:pPr algn="l" indent="0" marL="0">
              <a:lnSpc>
                <a:spcPts val="1550"/>
              </a:lnSpc>
              <a:buNone/>
            </a:pPr>
            <a:r>
              <a:rPr lang="en-US" sz="1250" b="1" dirty="0">
                <a:solidFill>
                  <a:srgbClr val="F4CAB8"/>
                </a:solidFill>
                <a:latin typeface="Brygada 1918 Bold" pitchFamily="34" charset="0"/>
                <a:ea typeface="Brygada 1918 Bold" pitchFamily="34" charset="-122"/>
                <a:cs typeface="Brygada 1918 Bold" pitchFamily="34" charset="-120"/>
              </a:rPr>
              <a:t>Data Migration</a:t>
            </a:r>
            <a:endParaRPr lang="en-US" sz="1250" dirty="0"/>
          </a:p>
        </p:txBody>
      </p:sp>
      <p:sp>
        <p:nvSpPr>
          <p:cNvPr id="33" name="Text 31"/>
          <p:cNvSpPr/>
          <p:nvPr/>
        </p:nvSpPr>
        <p:spPr>
          <a:xfrm>
            <a:off x="1225391" y="5715476"/>
            <a:ext cx="12613481" cy="152400"/>
          </a:xfrm>
          <a:prstGeom prst="rect">
            <a:avLst/>
          </a:prstGeom>
          <a:noFill/>
          <a:ln/>
        </p:spPr>
        <p:txBody>
          <a:bodyPr wrap="none" lIns="0" tIns="0" rIns="0" bIns="0" rtlCol="0" anchor="t"/>
          <a:lstStyle/>
          <a:p>
            <a:pPr algn="l" indent="0" marL="0">
              <a:lnSpc>
                <a:spcPts val="1200"/>
              </a:lnSpc>
              <a:buNone/>
            </a:pPr>
            <a:r>
              <a:rPr lang="en-US" sz="950" dirty="0">
                <a:solidFill>
                  <a:srgbClr val="F4CAB8"/>
                </a:solidFill>
                <a:latin typeface="Montserrat Medium" pitchFamily="34" charset="0"/>
                <a:ea typeface="Montserrat Medium" pitchFamily="34" charset="-122"/>
                <a:cs typeface="Montserrat Medium" pitchFamily="34" charset="-120"/>
              </a:rPr>
              <a:t>Identify data migration needs for existing customer and order data, assess risks before go-live</a:t>
            </a:r>
            <a:endParaRPr lang="en-US" sz="950" dirty="0"/>
          </a:p>
        </p:txBody>
      </p:sp>
      <p:sp>
        <p:nvSpPr>
          <p:cNvPr id="34" name="Shape 32"/>
          <p:cNvSpPr/>
          <p:nvPr/>
        </p:nvSpPr>
        <p:spPr>
          <a:xfrm>
            <a:off x="654725" y="6133148"/>
            <a:ext cx="13320951" cy="729496"/>
          </a:xfrm>
          <a:prstGeom prst="roundRect">
            <a:avLst>
              <a:gd name="adj" fmla="val 2500"/>
            </a:avLst>
          </a:prstGeom>
          <a:solidFill>
            <a:srgbClr val="5C2438"/>
          </a:solidFill>
          <a:ln w="15240">
            <a:solidFill>
              <a:srgbClr val="662E42"/>
            </a:solidFill>
            <a:prstDash val="solid"/>
          </a:ln>
        </p:spPr>
      </p:sp>
      <p:sp>
        <p:nvSpPr>
          <p:cNvPr id="35" name="Shape 33"/>
          <p:cNvSpPr/>
          <p:nvPr/>
        </p:nvSpPr>
        <p:spPr>
          <a:xfrm>
            <a:off x="669965" y="6148388"/>
            <a:ext cx="486370" cy="699016"/>
          </a:xfrm>
          <a:prstGeom prst="rect">
            <a:avLst/>
          </a:prstGeom>
          <a:solidFill>
            <a:srgbClr val="4D1529"/>
          </a:solidFill>
          <a:ln/>
        </p:spPr>
      </p:sp>
      <p:sp>
        <p:nvSpPr>
          <p:cNvPr id="36" name="Text 34"/>
          <p:cNvSpPr/>
          <p:nvPr/>
        </p:nvSpPr>
        <p:spPr>
          <a:xfrm>
            <a:off x="822008" y="6383893"/>
            <a:ext cx="182285" cy="227886"/>
          </a:xfrm>
          <a:prstGeom prst="rect">
            <a:avLst/>
          </a:prstGeom>
          <a:noFill/>
          <a:ln/>
        </p:spPr>
        <p:txBody>
          <a:bodyPr wrap="none" lIns="0" tIns="0" rIns="0" bIns="0" rtlCol="0" anchor="t"/>
          <a:lstStyle/>
          <a:p>
            <a:pPr algn="l" indent="0" marL="0">
              <a:lnSpc>
                <a:spcPts val="1400"/>
              </a:lnSpc>
              <a:buNone/>
            </a:pPr>
            <a:r>
              <a:rPr lang="en-US" sz="1400" b="1" dirty="0">
                <a:solidFill>
                  <a:srgbClr val="F4CAB8"/>
                </a:solidFill>
                <a:latin typeface="Brygada 1918 Bold" pitchFamily="34" charset="0"/>
                <a:ea typeface="Brygada 1918 Bold" pitchFamily="34" charset="-122"/>
                <a:cs typeface="Brygada 1918 Bold" pitchFamily="34" charset="-120"/>
              </a:rPr>
              <a:t>7</a:t>
            </a:r>
            <a:endParaRPr lang="en-US" sz="1400" dirty="0"/>
          </a:p>
        </p:txBody>
      </p:sp>
      <p:sp>
        <p:nvSpPr>
          <p:cNvPr id="37" name="Text 35"/>
          <p:cNvSpPr/>
          <p:nvPr/>
        </p:nvSpPr>
        <p:spPr>
          <a:xfrm>
            <a:off x="1225391" y="6269950"/>
            <a:ext cx="2038945" cy="202644"/>
          </a:xfrm>
          <a:prstGeom prst="rect">
            <a:avLst/>
          </a:prstGeom>
          <a:noFill/>
          <a:ln/>
        </p:spPr>
        <p:txBody>
          <a:bodyPr wrap="none" lIns="0" tIns="0" rIns="0" bIns="0" rtlCol="0" anchor="t"/>
          <a:lstStyle/>
          <a:p>
            <a:pPr algn="l" indent="0" marL="0">
              <a:lnSpc>
                <a:spcPts val="1550"/>
              </a:lnSpc>
              <a:buNone/>
            </a:pPr>
            <a:r>
              <a:rPr lang="en-US" sz="1250" b="1" dirty="0">
                <a:solidFill>
                  <a:srgbClr val="F4CAB8"/>
                </a:solidFill>
                <a:latin typeface="Brygada 1918 Bold" pitchFamily="34" charset="0"/>
                <a:ea typeface="Brygada 1918 Bold" pitchFamily="34" charset="-122"/>
                <a:cs typeface="Brygada 1918 Bold" pitchFamily="34" charset="-120"/>
              </a:rPr>
              <a:t>Dependency Management</a:t>
            </a:r>
            <a:endParaRPr lang="en-US" sz="1250" dirty="0"/>
          </a:p>
        </p:txBody>
      </p:sp>
      <p:sp>
        <p:nvSpPr>
          <p:cNvPr id="38" name="Text 36"/>
          <p:cNvSpPr/>
          <p:nvPr/>
        </p:nvSpPr>
        <p:spPr>
          <a:xfrm>
            <a:off x="1225391" y="6514028"/>
            <a:ext cx="12613481" cy="152400"/>
          </a:xfrm>
          <a:prstGeom prst="rect">
            <a:avLst/>
          </a:prstGeom>
          <a:noFill/>
          <a:ln/>
        </p:spPr>
        <p:txBody>
          <a:bodyPr wrap="none" lIns="0" tIns="0" rIns="0" bIns="0" rtlCol="0" anchor="t"/>
          <a:lstStyle/>
          <a:p>
            <a:pPr algn="l" indent="0" marL="0">
              <a:lnSpc>
                <a:spcPts val="1200"/>
              </a:lnSpc>
              <a:buNone/>
            </a:pPr>
            <a:r>
              <a:rPr lang="en-US" sz="950" dirty="0">
                <a:solidFill>
                  <a:srgbClr val="F4CAB8"/>
                </a:solidFill>
                <a:latin typeface="Montserrat Medium" pitchFamily="34" charset="0"/>
                <a:ea typeface="Montserrat Medium" pitchFamily="34" charset="-122"/>
                <a:cs typeface="Montserrat Medium" pitchFamily="34" charset="-120"/>
              </a:rPr>
              <a:t>Highlight dependencies such as third-party APIs, infrastructure readiness, and vendor approvals</a:t>
            </a:r>
            <a:endParaRPr lang="en-US" sz="950" dirty="0"/>
          </a:p>
        </p:txBody>
      </p:sp>
      <p:sp>
        <p:nvSpPr>
          <p:cNvPr id="39" name="Shape 37"/>
          <p:cNvSpPr/>
          <p:nvPr/>
        </p:nvSpPr>
        <p:spPr>
          <a:xfrm>
            <a:off x="654725" y="6931700"/>
            <a:ext cx="13320951" cy="729496"/>
          </a:xfrm>
          <a:prstGeom prst="roundRect">
            <a:avLst>
              <a:gd name="adj" fmla="val 2500"/>
            </a:avLst>
          </a:prstGeom>
          <a:solidFill>
            <a:srgbClr val="5C2438"/>
          </a:solidFill>
          <a:ln w="15240">
            <a:solidFill>
              <a:srgbClr val="662E42"/>
            </a:solidFill>
            <a:prstDash val="solid"/>
          </a:ln>
        </p:spPr>
      </p:sp>
      <p:sp>
        <p:nvSpPr>
          <p:cNvPr id="40" name="Shape 38"/>
          <p:cNvSpPr/>
          <p:nvPr/>
        </p:nvSpPr>
        <p:spPr>
          <a:xfrm>
            <a:off x="669965" y="6946940"/>
            <a:ext cx="486370" cy="699016"/>
          </a:xfrm>
          <a:prstGeom prst="rect">
            <a:avLst/>
          </a:prstGeom>
          <a:solidFill>
            <a:srgbClr val="4D1529"/>
          </a:solidFill>
          <a:ln/>
        </p:spPr>
      </p:sp>
      <p:sp>
        <p:nvSpPr>
          <p:cNvPr id="41" name="Text 39"/>
          <p:cNvSpPr/>
          <p:nvPr/>
        </p:nvSpPr>
        <p:spPr>
          <a:xfrm>
            <a:off x="822008" y="7182445"/>
            <a:ext cx="182285" cy="227886"/>
          </a:xfrm>
          <a:prstGeom prst="rect">
            <a:avLst/>
          </a:prstGeom>
          <a:noFill/>
          <a:ln/>
        </p:spPr>
        <p:txBody>
          <a:bodyPr wrap="none" lIns="0" tIns="0" rIns="0" bIns="0" rtlCol="0" anchor="t"/>
          <a:lstStyle/>
          <a:p>
            <a:pPr algn="l" indent="0" marL="0">
              <a:lnSpc>
                <a:spcPts val="1400"/>
              </a:lnSpc>
              <a:buNone/>
            </a:pPr>
            <a:r>
              <a:rPr lang="en-US" sz="1400" b="1" dirty="0">
                <a:solidFill>
                  <a:srgbClr val="F4CAB8"/>
                </a:solidFill>
                <a:latin typeface="Brygada 1918 Bold" pitchFamily="34" charset="0"/>
                <a:ea typeface="Brygada 1918 Bold" pitchFamily="34" charset="-122"/>
                <a:cs typeface="Brygada 1918 Bold" pitchFamily="34" charset="-120"/>
              </a:rPr>
              <a:t>8</a:t>
            </a:r>
            <a:endParaRPr lang="en-US" sz="1400" dirty="0"/>
          </a:p>
        </p:txBody>
      </p:sp>
      <p:sp>
        <p:nvSpPr>
          <p:cNvPr id="42" name="Text 40"/>
          <p:cNvSpPr/>
          <p:nvPr/>
        </p:nvSpPr>
        <p:spPr>
          <a:xfrm>
            <a:off x="1225391" y="7068503"/>
            <a:ext cx="1621274" cy="202644"/>
          </a:xfrm>
          <a:prstGeom prst="rect">
            <a:avLst/>
          </a:prstGeom>
          <a:noFill/>
          <a:ln/>
        </p:spPr>
        <p:txBody>
          <a:bodyPr wrap="none" lIns="0" tIns="0" rIns="0" bIns="0" rtlCol="0" anchor="t"/>
          <a:lstStyle/>
          <a:p>
            <a:pPr algn="l" indent="0" marL="0">
              <a:lnSpc>
                <a:spcPts val="1550"/>
              </a:lnSpc>
              <a:buNone/>
            </a:pPr>
            <a:r>
              <a:rPr lang="en-US" sz="1250" b="1" dirty="0">
                <a:solidFill>
                  <a:srgbClr val="F4CAB8"/>
                </a:solidFill>
                <a:latin typeface="Brygada 1918 Bold" pitchFamily="34" charset="0"/>
                <a:ea typeface="Brygada 1918 Bold" pitchFamily="34" charset="-122"/>
                <a:cs typeface="Brygada 1918 Bold" pitchFamily="34" charset="-120"/>
              </a:rPr>
              <a:t>UAT &amp; Sign-off</a:t>
            </a:r>
            <a:endParaRPr lang="en-US" sz="1250" dirty="0"/>
          </a:p>
        </p:txBody>
      </p:sp>
      <p:sp>
        <p:nvSpPr>
          <p:cNvPr id="43" name="Text 41"/>
          <p:cNvSpPr/>
          <p:nvPr/>
        </p:nvSpPr>
        <p:spPr>
          <a:xfrm>
            <a:off x="1225391" y="7312581"/>
            <a:ext cx="12613481" cy="152400"/>
          </a:xfrm>
          <a:prstGeom prst="rect">
            <a:avLst/>
          </a:prstGeom>
          <a:noFill/>
          <a:ln/>
        </p:spPr>
        <p:txBody>
          <a:bodyPr wrap="none" lIns="0" tIns="0" rIns="0" bIns="0" rtlCol="0" anchor="t"/>
          <a:lstStyle/>
          <a:p>
            <a:pPr algn="l" indent="0" marL="0">
              <a:lnSpc>
                <a:spcPts val="1200"/>
              </a:lnSpc>
              <a:buNone/>
            </a:pPr>
            <a:r>
              <a:rPr lang="en-US" sz="950" dirty="0">
                <a:solidFill>
                  <a:srgbClr val="F4CAB8"/>
                </a:solidFill>
                <a:latin typeface="Montserrat Medium" pitchFamily="34" charset="0"/>
                <a:ea typeface="Montserrat Medium" pitchFamily="34" charset="-122"/>
                <a:cs typeface="Montserrat Medium" pitchFamily="34" charset="-120"/>
              </a:rPr>
              <a:t>Conduct User Acceptance Testing with real restaurant scenarios and obtain formal sign-off before deployment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49260" y="671989"/>
            <a:ext cx="6305431" cy="606623"/>
          </a:xfrm>
          <a:prstGeom prst="rect">
            <a:avLst/>
          </a:prstGeom>
          <a:noFill/>
          <a:ln/>
        </p:spPr>
        <p:txBody>
          <a:bodyPr wrap="none" lIns="0" tIns="0" rIns="0" bIns="0" rtlCol="0" anchor="t"/>
          <a:lstStyle/>
          <a:p>
            <a:pPr algn="l" indent="0" marL="0">
              <a:lnSpc>
                <a:spcPts val="4750"/>
              </a:lnSpc>
              <a:buNone/>
            </a:pPr>
            <a:r>
              <a:rPr lang="en-US" sz="3800" b="1" dirty="0">
                <a:solidFill>
                  <a:srgbClr val="FFB393"/>
                </a:solidFill>
                <a:latin typeface="Brygada 1918 Bold" pitchFamily="34" charset="0"/>
                <a:ea typeface="Brygada 1918 Bold" pitchFamily="34" charset="-122"/>
                <a:cs typeface="Brygada 1918 Bold" pitchFamily="34" charset="-120"/>
              </a:rPr>
              <a:t>Sprint Execution Roadmap</a:t>
            </a:r>
            <a:endParaRPr lang="en-US" sz="3800" dirty="0"/>
          </a:p>
        </p:txBody>
      </p:sp>
      <p:sp>
        <p:nvSpPr>
          <p:cNvPr id="3" name="Text 1"/>
          <p:cNvSpPr/>
          <p:nvPr/>
        </p:nvSpPr>
        <p:spPr>
          <a:xfrm>
            <a:off x="749260" y="1587937"/>
            <a:ext cx="13131879" cy="269319"/>
          </a:xfrm>
          <a:prstGeom prst="rect">
            <a:avLst/>
          </a:prstGeom>
          <a:noFill/>
          <a:ln/>
        </p:spPr>
        <p:txBody>
          <a:bodyPr wrap="none" lIns="0" tIns="0" rIns="0" bIns="0" rtlCol="0" anchor="t"/>
          <a:lstStyle/>
          <a:p>
            <a:pPr algn="l"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After finalizing the sprint backlog, our team follows a structured approach to ensure quality delivery and continuous improvement.</a:t>
            </a:r>
            <a:endParaRPr lang="en-US" sz="1400" dirty="0"/>
          </a:p>
        </p:txBody>
      </p:sp>
      <p:sp>
        <p:nvSpPr>
          <p:cNvPr id="4" name="Shape 2"/>
          <p:cNvSpPr/>
          <p:nvPr/>
        </p:nvSpPr>
        <p:spPr>
          <a:xfrm>
            <a:off x="7303770" y="2031206"/>
            <a:ext cx="22860" cy="4383524"/>
          </a:xfrm>
          <a:prstGeom prst="roundRect">
            <a:avLst>
              <a:gd name="adj" fmla="val 119415"/>
            </a:avLst>
          </a:prstGeom>
          <a:solidFill>
            <a:srgbClr val="662E42"/>
          </a:solidFill>
          <a:ln/>
        </p:spPr>
      </p:sp>
      <p:sp>
        <p:nvSpPr>
          <p:cNvPr id="5" name="Shape 3"/>
          <p:cNvSpPr/>
          <p:nvPr/>
        </p:nvSpPr>
        <p:spPr>
          <a:xfrm>
            <a:off x="6587430" y="2224445"/>
            <a:ext cx="545902" cy="22860"/>
          </a:xfrm>
          <a:prstGeom prst="roundRect">
            <a:avLst>
              <a:gd name="adj" fmla="val 119415"/>
            </a:avLst>
          </a:prstGeom>
          <a:solidFill>
            <a:srgbClr val="662E42"/>
          </a:solidFill>
          <a:ln/>
        </p:spPr>
      </p:sp>
      <p:sp>
        <p:nvSpPr>
          <p:cNvPr id="6" name="Shape 4"/>
          <p:cNvSpPr/>
          <p:nvPr/>
        </p:nvSpPr>
        <p:spPr>
          <a:xfrm>
            <a:off x="7110472" y="2031206"/>
            <a:ext cx="409456" cy="409456"/>
          </a:xfrm>
          <a:prstGeom prst="roundRect">
            <a:avLst>
              <a:gd name="adj" fmla="val 6667"/>
            </a:avLst>
          </a:prstGeom>
          <a:solidFill>
            <a:srgbClr val="4D1529"/>
          </a:solidFill>
          <a:ln/>
        </p:spPr>
      </p:sp>
      <p:sp>
        <p:nvSpPr>
          <p:cNvPr id="7" name="Text 5"/>
          <p:cNvSpPr/>
          <p:nvPr/>
        </p:nvSpPr>
        <p:spPr>
          <a:xfrm>
            <a:off x="7169587" y="2053888"/>
            <a:ext cx="291108" cy="363974"/>
          </a:xfrm>
          <a:prstGeom prst="rect">
            <a:avLst/>
          </a:prstGeom>
          <a:noFill/>
          <a:ln/>
        </p:spPr>
        <p:txBody>
          <a:bodyPr wrap="none" lIns="0" tIns="0" rIns="0" bIns="0" rtlCol="0" anchor="t"/>
          <a:lstStyle/>
          <a:p>
            <a:pPr algn="ctr" indent="0" marL="0">
              <a:lnSpc>
                <a:spcPts val="2250"/>
              </a:lnSpc>
              <a:buNone/>
            </a:pPr>
            <a:r>
              <a:rPr lang="en-US" sz="2250" b="1" dirty="0">
                <a:solidFill>
                  <a:srgbClr val="F4CAB8"/>
                </a:solidFill>
                <a:latin typeface="Brygada 1918 Bold" pitchFamily="34" charset="0"/>
                <a:ea typeface="Brygada 1918 Bold" pitchFamily="34" charset="-122"/>
                <a:cs typeface="Brygada 1918 Bold" pitchFamily="34" charset="-120"/>
              </a:rPr>
              <a:t>1</a:t>
            </a:r>
            <a:endParaRPr lang="en-US" sz="2250" dirty="0"/>
          </a:p>
        </p:txBody>
      </p:sp>
      <p:sp>
        <p:nvSpPr>
          <p:cNvPr id="8" name="Text 6"/>
          <p:cNvSpPr/>
          <p:nvPr/>
        </p:nvSpPr>
        <p:spPr>
          <a:xfrm>
            <a:off x="3569137" y="2093714"/>
            <a:ext cx="2836188" cy="303252"/>
          </a:xfrm>
          <a:prstGeom prst="rect">
            <a:avLst/>
          </a:prstGeom>
          <a:noFill/>
          <a:ln/>
        </p:spPr>
        <p:txBody>
          <a:bodyPr wrap="none" lIns="0" tIns="0" rIns="0" bIns="0" rtlCol="0" anchor="t"/>
          <a:lstStyle/>
          <a:p>
            <a:pPr algn="r" indent="0" marL="0">
              <a:lnSpc>
                <a:spcPts val="2350"/>
              </a:lnSpc>
              <a:buNone/>
            </a:pPr>
            <a:r>
              <a:rPr lang="en-US" sz="1900" b="1" dirty="0">
                <a:solidFill>
                  <a:srgbClr val="F4CAB8"/>
                </a:solidFill>
                <a:latin typeface="Brygada 1918 Bold" pitchFamily="34" charset="0"/>
                <a:ea typeface="Brygada 1918 Bold" pitchFamily="34" charset="-122"/>
                <a:cs typeface="Brygada 1918 Bold" pitchFamily="34" charset="-120"/>
              </a:rPr>
              <a:t>Sprint Planning &amp; Setup</a:t>
            </a:r>
            <a:endParaRPr lang="en-US" sz="1900" dirty="0"/>
          </a:p>
        </p:txBody>
      </p:sp>
      <p:sp>
        <p:nvSpPr>
          <p:cNvPr id="9" name="Text 7"/>
          <p:cNvSpPr/>
          <p:nvPr/>
        </p:nvSpPr>
        <p:spPr>
          <a:xfrm>
            <a:off x="749260" y="2489716"/>
            <a:ext cx="5656064" cy="807958"/>
          </a:xfrm>
          <a:prstGeom prst="rect">
            <a:avLst/>
          </a:prstGeom>
          <a:noFill/>
          <a:ln/>
        </p:spPr>
        <p:txBody>
          <a:bodyPr wrap="square" lIns="0" tIns="0" rIns="0" bIns="0" rtlCol="0" anchor="t"/>
          <a:lstStyle/>
          <a:p>
            <a:pPr algn="r"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Finalize user stories, confirm acceptance criteria, estimate story points, assign tasks, and prepare development environments</a:t>
            </a:r>
            <a:endParaRPr lang="en-US" sz="1400" dirty="0"/>
          </a:p>
        </p:txBody>
      </p:sp>
      <p:sp>
        <p:nvSpPr>
          <p:cNvPr id="10" name="Shape 8"/>
          <p:cNvSpPr/>
          <p:nvPr/>
        </p:nvSpPr>
        <p:spPr>
          <a:xfrm>
            <a:off x="7497068" y="3261717"/>
            <a:ext cx="545902" cy="22860"/>
          </a:xfrm>
          <a:prstGeom prst="roundRect">
            <a:avLst>
              <a:gd name="adj" fmla="val 119415"/>
            </a:avLst>
          </a:prstGeom>
          <a:solidFill>
            <a:srgbClr val="662E42"/>
          </a:solidFill>
          <a:ln/>
        </p:spPr>
      </p:sp>
      <p:sp>
        <p:nvSpPr>
          <p:cNvPr id="11" name="Shape 9"/>
          <p:cNvSpPr/>
          <p:nvPr/>
        </p:nvSpPr>
        <p:spPr>
          <a:xfrm>
            <a:off x="7110472" y="3068479"/>
            <a:ext cx="409456" cy="409456"/>
          </a:xfrm>
          <a:prstGeom prst="roundRect">
            <a:avLst>
              <a:gd name="adj" fmla="val 6667"/>
            </a:avLst>
          </a:prstGeom>
          <a:solidFill>
            <a:srgbClr val="4D1529"/>
          </a:solidFill>
          <a:ln/>
        </p:spPr>
      </p:sp>
      <p:sp>
        <p:nvSpPr>
          <p:cNvPr id="12" name="Text 10"/>
          <p:cNvSpPr/>
          <p:nvPr/>
        </p:nvSpPr>
        <p:spPr>
          <a:xfrm>
            <a:off x="7169587" y="3091160"/>
            <a:ext cx="291108" cy="363974"/>
          </a:xfrm>
          <a:prstGeom prst="rect">
            <a:avLst/>
          </a:prstGeom>
          <a:noFill/>
          <a:ln/>
        </p:spPr>
        <p:txBody>
          <a:bodyPr wrap="none" lIns="0" tIns="0" rIns="0" bIns="0" rtlCol="0" anchor="t"/>
          <a:lstStyle/>
          <a:p>
            <a:pPr algn="ctr" indent="0" marL="0">
              <a:lnSpc>
                <a:spcPts val="2250"/>
              </a:lnSpc>
              <a:buNone/>
            </a:pPr>
            <a:r>
              <a:rPr lang="en-US" sz="2250" b="1" dirty="0">
                <a:solidFill>
                  <a:srgbClr val="F4CAB8"/>
                </a:solidFill>
                <a:latin typeface="Brygada 1918 Bold" pitchFamily="34" charset="0"/>
                <a:ea typeface="Brygada 1918 Bold" pitchFamily="34" charset="-122"/>
                <a:cs typeface="Brygada 1918 Bold" pitchFamily="34" charset="-120"/>
              </a:rPr>
              <a:t>2</a:t>
            </a:r>
            <a:endParaRPr lang="en-US" sz="2250" dirty="0"/>
          </a:p>
        </p:txBody>
      </p:sp>
      <p:sp>
        <p:nvSpPr>
          <p:cNvPr id="13" name="Text 11"/>
          <p:cNvSpPr/>
          <p:nvPr/>
        </p:nvSpPr>
        <p:spPr>
          <a:xfrm>
            <a:off x="8225076" y="3130987"/>
            <a:ext cx="3062764" cy="303252"/>
          </a:xfrm>
          <a:prstGeom prst="rect">
            <a:avLst/>
          </a:prstGeom>
          <a:noFill/>
          <a:ln/>
        </p:spPr>
        <p:txBody>
          <a:bodyPr wrap="none" lIns="0" tIns="0" rIns="0" bIns="0" rtlCol="0" anchor="t"/>
          <a:lstStyle/>
          <a:p>
            <a:pPr algn="l" indent="0" marL="0">
              <a:lnSpc>
                <a:spcPts val="2350"/>
              </a:lnSpc>
              <a:buNone/>
            </a:pPr>
            <a:r>
              <a:rPr lang="en-US" sz="1900" b="1" dirty="0">
                <a:solidFill>
                  <a:srgbClr val="F4CAB8"/>
                </a:solidFill>
                <a:latin typeface="Brygada 1918 Bold" pitchFamily="34" charset="0"/>
                <a:ea typeface="Brygada 1918 Bold" pitchFamily="34" charset="-122"/>
                <a:cs typeface="Brygada 1918 Bold" pitchFamily="34" charset="-120"/>
              </a:rPr>
              <a:t>Development &amp; Daily Sync</a:t>
            </a:r>
            <a:endParaRPr lang="en-US" sz="1900" dirty="0"/>
          </a:p>
        </p:txBody>
      </p:sp>
      <p:sp>
        <p:nvSpPr>
          <p:cNvPr id="14" name="Text 12"/>
          <p:cNvSpPr/>
          <p:nvPr/>
        </p:nvSpPr>
        <p:spPr>
          <a:xfrm>
            <a:off x="8225076" y="3526988"/>
            <a:ext cx="5656064" cy="538639"/>
          </a:xfrm>
          <a:prstGeom prst="rect">
            <a:avLst/>
          </a:prstGeom>
          <a:noFill/>
          <a:ln/>
        </p:spPr>
        <p:txBody>
          <a:bodyPr wrap="square" lIns="0" tIns="0" rIns="0" bIns="0" rtlCol="0" anchor="t"/>
          <a:lstStyle/>
          <a:p>
            <a:pPr algn="l"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Developers break down tasks, code per acceptance criteria, conduct daily scrums to track progress and resolve blockers</a:t>
            </a:r>
            <a:endParaRPr lang="en-US" sz="1400" dirty="0"/>
          </a:p>
        </p:txBody>
      </p:sp>
      <p:sp>
        <p:nvSpPr>
          <p:cNvPr id="15" name="Shape 13"/>
          <p:cNvSpPr/>
          <p:nvPr/>
        </p:nvSpPr>
        <p:spPr>
          <a:xfrm>
            <a:off x="6587430" y="4175522"/>
            <a:ext cx="545902" cy="22860"/>
          </a:xfrm>
          <a:prstGeom prst="roundRect">
            <a:avLst>
              <a:gd name="adj" fmla="val 119415"/>
            </a:avLst>
          </a:prstGeom>
          <a:solidFill>
            <a:srgbClr val="662E42"/>
          </a:solidFill>
          <a:ln/>
        </p:spPr>
      </p:sp>
      <p:sp>
        <p:nvSpPr>
          <p:cNvPr id="16" name="Shape 14"/>
          <p:cNvSpPr/>
          <p:nvPr/>
        </p:nvSpPr>
        <p:spPr>
          <a:xfrm>
            <a:off x="7110472" y="3982283"/>
            <a:ext cx="409456" cy="409456"/>
          </a:xfrm>
          <a:prstGeom prst="roundRect">
            <a:avLst>
              <a:gd name="adj" fmla="val 6667"/>
            </a:avLst>
          </a:prstGeom>
          <a:solidFill>
            <a:srgbClr val="4D1529"/>
          </a:solidFill>
          <a:ln/>
        </p:spPr>
      </p:sp>
      <p:sp>
        <p:nvSpPr>
          <p:cNvPr id="17" name="Text 15"/>
          <p:cNvSpPr/>
          <p:nvPr/>
        </p:nvSpPr>
        <p:spPr>
          <a:xfrm>
            <a:off x="7169587" y="4004965"/>
            <a:ext cx="291108" cy="363974"/>
          </a:xfrm>
          <a:prstGeom prst="rect">
            <a:avLst/>
          </a:prstGeom>
          <a:noFill/>
          <a:ln/>
        </p:spPr>
        <p:txBody>
          <a:bodyPr wrap="none" lIns="0" tIns="0" rIns="0" bIns="0" rtlCol="0" anchor="t"/>
          <a:lstStyle/>
          <a:p>
            <a:pPr algn="ctr" indent="0" marL="0">
              <a:lnSpc>
                <a:spcPts val="2250"/>
              </a:lnSpc>
              <a:buNone/>
            </a:pPr>
            <a:r>
              <a:rPr lang="en-US" sz="2250" b="1" dirty="0">
                <a:solidFill>
                  <a:srgbClr val="F4CAB8"/>
                </a:solidFill>
                <a:latin typeface="Brygada 1918 Bold" pitchFamily="34" charset="0"/>
                <a:ea typeface="Brygada 1918 Bold" pitchFamily="34" charset="-122"/>
                <a:cs typeface="Brygada 1918 Bold" pitchFamily="34" charset="-120"/>
              </a:rPr>
              <a:t>3</a:t>
            </a:r>
            <a:endParaRPr lang="en-US" sz="2250" dirty="0"/>
          </a:p>
        </p:txBody>
      </p:sp>
      <p:sp>
        <p:nvSpPr>
          <p:cNvPr id="18" name="Text 16"/>
          <p:cNvSpPr/>
          <p:nvPr/>
        </p:nvSpPr>
        <p:spPr>
          <a:xfrm>
            <a:off x="3121700" y="4044791"/>
            <a:ext cx="3283625" cy="303252"/>
          </a:xfrm>
          <a:prstGeom prst="rect">
            <a:avLst/>
          </a:prstGeom>
          <a:noFill/>
          <a:ln/>
        </p:spPr>
        <p:txBody>
          <a:bodyPr wrap="none" lIns="0" tIns="0" rIns="0" bIns="0" rtlCol="0" anchor="t"/>
          <a:lstStyle/>
          <a:p>
            <a:pPr algn="r" indent="0" marL="0">
              <a:lnSpc>
                <a:spcPts val="2350"/>
              </a:lnSpc>
              <a:buNone/>
            </a:pPr>
            <a:r>
              <a:rPr lang="en-US" sz="1900" b="1" dirty="0">
                <a:solidFill>
                  <a:srgbClr val="F4CAB8"/>
                </a:solidFill>
                <a:latin typeface="Brygada 1918 Bold" pitchFamily="34" charset="0"/>
                <a:ea typeface="Brygada 1918 Bold" pitchFamily="34" charset="-122"/>
                <a:cs typeface="Brygada 1918 Bold" pitchFamily="34" charset="-120"/>
              </a:rPr>
              <a:t>Testing &amp; Quality Assurance</a:t>
            </a:r>
            <a:endParaRPr lang="en-US" sz="1900" dirty="0"/>
          </a:p>
        </p:txBody>
      </p:sp>
      <p:sp>
        <p:nvSpPr>
          <p:cNvPr id="19" name="Text 17"/>
          <p:cNvSpPr/>
          <p:nvPr/>
        </p:nvSpPr>
        <p:spPr>
          <a:xfrm>
            <a:off x="749260" y="4440793"/>
            <a:ext cx="5656064" cy="807958"/>
          </a:xfrm>
          <a:prstGeom prst="rect">
            <a:avLst/>
          </a:prstGeom>
          <a:noFill/>
          <a:ln/>
        </p:spPr>
        <p:txBody>
          <a:bodyPr wrap="square" lIns="0" tIns="0" rIns="0" bIns="0" rtlCol="0" anchor="t"/>
          <a:lstStyle/>
          <a:p>
            <a:pPr algn="r"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Unit testing by developers, comprehensive QA test execution, defect logging, regression testing, and timely resolution</a:t>
            </a:r>
            <a:endParaRPr lang="en-US" sz="1400" dirty="0"/>
          </a:p>
        </p:txBody>
      </p:sp>
      <p:sp>
        <p:nvSpPr>
          <p:cNvPr id="20" name="Shape 18"/>
          <p:cNvSpPr/>
          <p:nvPr/>
        </p:nvSpPr>
        <p:spPr>
          <a:xfrm>
            <a:off x="7497068" y="5089446"/>
            <a:ext cx="545902" cy="22860"/>
          </a:xfrm>
          <a:prstGeom prst="roundRect">
            <a:avLst>
              <a:gd name="adj" fmla="val 119415"/>
            </a:avLst>
          </a:prstGeom>
          <a:solidFill>
            <a:srgbClr val="662E42"/>
          </a:solidFill>
          <a:ln/>
        </p:spPr>
      </p:sp>
      <p:sp>
        <p:nvSpPr>
          <p:cNvPr id="21" name="Shape 19"/>
          <p:cNvSpPr/>
          <p:nvPr/>
        </p:nvSpPr>
        <p:spPr>
          <a:xfrm>
            <a:off x="7110472" y="4896207"/>
            <a:ext cx="409456" cy="409456"/>
          </a:xfrm>
          <a:prstGeom prst="roundRect">
            <a:avLst>
              <a:gd name="adj" fmla="val 6667"/>
            </a:avLst>
          </a:prstGeom>
          <a:solidFill>
            <a:srgbClr val="4D1529"/>
          </a:solidFill>
          <a:ln/>
        </p:spPr>
      </p:sp>
      <p:sp>
        <p:nvSpPr>
          <p:cNvPr id="22" name="Text 20"/>
          <p:cNvSpPr/>
          <p:nvPr/>
        </p:nvSpPr>
        <p:spPr>
          <a:xfrm>
            <a:off x="7169587" y="4918889"/>
            <a:ext cx="291108" cy="363974"/>
          </a:xfrm>
          <a:prstGeom prst="rect">
            <a:avLst/>
          </a:prstGeom>
          <a:noFill/>
          <a:ln/>
        </p:spPr>
        <p:txBody>
          <a:bodyPr wrap="none" lIns="0" tIns="0" rIns="0" bIns="0" rtlCol="0" anchor="t"/>
          <a:lstStyle/>
          <a:p>
            <a:pPr algn="ctr" indent="0" marL="0">
              <a:lnSpc>
                <a:spcPts val="2250"/>
              </a:lnSpc>
              <a:buNone/>
            </a:pPr>
            <a:r>
              <a:rPr lang="en-US" sz="2250" b="1" dirty="0">
                <a:solidFill>
                  <a:srgbClr val="F4CAB8"/>
                </a:solidFill>
                <a:latin typeface="Brygada 1918 Bold" pitchFamily="34" charset="0"/>
                <a:ea typeface="Brygada 1918 Bold" pitchFamily="34" charset="-122"/>
                <a:cs typeface="Brygada 1918 Bold" pitchFamily="34" charset="-120"/>
              </a:rPr>
              <a:t>4</a:t>
            </a:r>
            <a:endParaRPr lang="en-US" sz="2250" dirty="0"/>
          </a:p>
        </p:txBody>
      </p:sp>
      <p:sp>
        <p:nvSpPr>
          <p:cNvPr id="23" name="Text 21"/>
          <p:cNvSpPr/>
          <p:nvPr/>
        </p:nvSpPr>
        <p:spPr>
          <a:xfrm>
            <a:off x="8225076" y="4958715"/>
            <a:ext cx="2729746" cy="303252"/>
          </a:xfrm>
          <a:prstGeom prst="rect">
            <a:avLst/>
          </a:prstGeom>
          <a:noFill/>
          <a:ln/>
        </p:spPr>
        <p:txBody>
          <a:bodyPr wrap="none" lIns="0" tIns="0" rIns="0" bIns="0" rtlCol="0" anchor="t"/>
          <a:lstStyle/>
          <a:p>
            <a:pPr algn="l" indent="0" marL="0">
              <a:lnSpc>
                <a:spcPts val="2350"/>
              </a:lnSpc>
              <a:buNone/>
            </a:pPr>
            <a:r>
              <a:rPr lang="en-US" sz="1900" b="1" dirty="0">
                <a:solidFill>
                  <a:srgbClr val="F4CAB8"/>
                </a:solidFill>
                <a:latin typeface="Brygada 1918 Bold" pitchFamily="34" charset="0"/>
                <a:ea typeface="Brygada 1918 Bold" pitchFamily="34" charset="-122"/>
                <a:cs typeface="Brygada 1918 Bold" pitchFamily="34" charset="-120"/>
              </a:rPr>
              <a:t>Review &amp; Retrospective</a:t>
            </a:r>
            <a:endParaRPr lang="en-US" sz="1900" dirty="0"/>
          </a:p>
        </p:txBody>
      </p:sp>
      <p:sp>
        <p:nvSpPr>
          <p:cNvPr id="24" name="Text 22"/>
          <p:cNvSpPr/>
          <p:nvPr/>
        </p:nvSpPr>
        <p:spPr>
          <a:xfrm>
            <a:off x="8225076" y="5354717"/>
            <a:ext cx="5656064" cy="807958"/>
          </a:xfrm>
          <a:prstGeom prst="rect">
            <a:avLst/>
          </a:prstGeom>
          <a:noFill/>
          <a:ln/>
        </p:spPr>
        <p:txBody>
          <a:bodyPr wrap="square" lIns="0" tIns="0" rIns="0" bIns="0" rtlCol="0" anchor="t"/>
          <a:lstStyle/>
          <a:p>
            <a:pPr algn="l"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Demo completed features to stakeholders, gather feedback, conduct retrospective to identify improvements for next sprint</a:t>
            </a:r>
            <a:endParaRPr lang="en-US" sz="1400" dirty="0"/>
          </a:p>
        </p:txBody>
      </p:sp>
      <p:sp>
        <p:nvSpPr>
          <p:cNvPr id="25" name="Shape 23"/>
          <p:cNvSpPr/>
          <p:nvPr/>
        </p:nvSpPr>
        <p:spPr>
          <a:xfrm>
            <a:off x="749260" y="6588681"/>
            <a:ext cx="13131879" cy="968931"/>
          </a:xfrm>
          <a:prstGeom prst="roundRect">
            <a:avLst>
              <a:gd name="adj" fmla="val 2817"/>
            </a:avLst>
          </a:prstGeom>
          <a:solidFill>
            <a:srgbClr val="4D1700"/>
          </a:solidFill>
          <a:ln/>
        </p:spPr>
      </p:sp>
      <p:pic>
        <p:nvPicPr>
          <p:cNvPr id="26" name="Image 0" descr="preencoded.png">    </p:cNvPr>
          <p:cNvPicPr>
            <a:picLocks noChangeAspect="1"/>
          </p:cNvPicPr>
          <p:nvPr/>
        </p:nvPicPr>
        <p:blipFill>
          <a:blip r:embed="rId1"/>
          <a:stretch>
            <a:fillRect/>
          </a:stretch>
        </p:blipFill>
        <p:spPr>
          <a:xfrm>
            <a:off x="931188" y="6855023"/>
            <a:ext cx="227409" cy="181928"/>
          </a:xfrm>
          <a:prstGeom prst="rect">
            <a:avLst/>
          </a:prstGeom>
        </p:spPr>
      </p:pic>
      <p:sp>
        <p:nvSpPr>
          <p:cNvPr id="27" name="Text 24"/>
          <p:cNvSpPr/>
          <p:nvPr/>
        </p:nvSpPr>
        <p:spPr>
          <a:xfrm>
            <a:off x="1340525" y="6788825"/>
            <a:ext cx="12358688" cy="538639"/>
          </a:xfrm>
          <a:prstGeom prst="rect">
            <a:avLst/>
          </a:prstGeom>
          <a:noFill/>
          <a:ln/>
        </p:spPr>
        <p:txBody>
          <a:bodyPr wrap="square" lIns="0" tIns="0" rIns="0" bIns="0" rtlCol="0" anchor="t"/>
          <a:lstStyle/>
          <a:p>
            <a:pPr algn="l" indent="0" marL="0">
              <a:lnSpc>
                <a:spcPts val="2100"/>
              </a:lnSpc>
              <a:buNone/>
            </a:pPr>
            <a:r>
              <a:rPr lang="en-US" sz="1400" b="1" dirty="0">
                <a:solidFill>
                  <a:srgbClr val="FFFFFF"/>
                </a:solidFill>
                <a:latin typeface="Montserrat Medium" pitchFamily="34" charset="0"/>
                <a:ea typeface="Montserrat Medium" pitchFamily="34" charset="-122"/>
                <a:cs typeface="Montserrat Medium" pitchFamily="34" charset="-120"/>
              </a:rPr>
              <a:t>Thank you</a:t>
            </a:r>
            <a:pPr algn="l" indent="0" marL="0">
              <a:lnSpc>
                <a:spcPts val="2100"/>
              </a:lnSpc>
              <a:buNone/>
            </a:pPr>
            <a:r>
              <a:rPr lang="en-US" sz="1400" dirty="0">
                <a:solidFill>
                  <a:srgbClr val="FFFFFF"/>
                </a:solidFill>
                <a:latin typeface="Montserrat Medium" pitchFamily="34" charset="0"/>
                <a:ea typeface="Montserrat Medium" pitchFamily="34" charset="-122"/>
                <a:cs typeface="Montserrat Medium" pitchFamily="34" charset="-120"/>
              </a:rPr>
              <a:t> to Itpreneur Institute, Pune, and our trainer Swapnil Raut for guiding us through this transformative learning experience. This project has equipped us with practical Business Analysis skills that will serve us throughout our careers.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2026-02-12T19:37:03Z</dcterms:created>
  <dcterms:modified xsi:type="dcterms:W3CDTF">2026-02-12T19:37:03Z</dcterms:modified>
</cp:coreProperties>
</file>